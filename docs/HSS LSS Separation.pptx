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sldIdLst>
    <p:sldId id="256" r:id="rId2"/>
    <p:sldId id="292" r:id="rId3"/>
    <p:sldId id="257" r:id="rId4"/>
    <p:sldId id="259" r:id="rId5"/>
    <p:sldId id="270" r:id="rId6"/>
    <p:sldId id="271" r:id="rId7"/>
    <p:sldId id="272" r:id="rId8"/>
    <p:sldId id="273" r:id="rId9"/>
    <p:sldId id="274" r:id="rId10"/>
    <p:sldId id="276" r:id="rId11"/>
    <p:sldId id="283" r:id="rId12"/>
    <p:sldId id="284" r:id="rId13"/>
    <p:sldId id="294" r:id="rId14"/>
    <p:sldId id="277" r:id="rId15"/>
    <p:sldId id="293" r:id="rId16"/>
    <p:sldId id="278" r:id="rId17"/>
    <p:sldId id="280" r:id="rId18"/>
    <p:sldId id="281" r:id="rId19"/>
    <p:sldId id="279" r:id="rId20"/>
    <p:sldId id="295" r:id="rId21"/>
    <p:sldId id="296" r:id="rId22"/>
    <p:sldId id="297" r:id="rId23"/>
    <p:sldId id="298" r:id="rId24"/>
    <p:sldId id="299" r:id="rId25"/>
    <p:sldId id="300" r:id="rId26"/>
    <p:sldId id="301" r:id="rId27"/>
    <p:sldId id="290" r:id="rId28"/>
    <p:sldId id="29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540B190-B576-4E5D-86C4-98FB41DBC757}" type="datetimeFigureOut">
              <a:rPr lang="en-IN" smtClean="0"/>
              <a:t>24-10-2026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107938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0B190-B576-4E5D-86C4-98FB41DBC757}" type="datetimeFigureOut">
              <a:rPr lang="en-IN" smtClean="0"/>
              <a:t>24-10-2026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157183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1540B190-B576-4E5D-86C4-98FB41DBC757}" type="datetimeFigureOut">
              <a:rPr lang="en-IN" smtClean="0"/>
              <a:t>24-10-2026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1969057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40B190-B576-4E5D-86C4-98FB41DBC757}" type="datetimeFigureOut">
              <a:rPr lang="en-IN" smtClean="0"/>
              <a:t>24-10-2026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2633329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40B190-B576-4E5D-86C4-98FB41DBC757}" type="datetimeFigureOut">
              <a:rPr lang="en-IN" smtClean="0"/>
              <a:t>24-10-2026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2731842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40B190-B576-4E5D-86C4-98FB41DBC757}" type="datetimeFigureOut">
              <a:rPr lang="en-IN" smtClean="0"/>
              <a:t>24-10-2026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3719111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40B190-B576-4E5D-86C4-98FB41DBC757}" type="datetimeFigureOut">
              <a:rPr lang="en-IN" smtClean="0"/>
              <a:t>24-10-2026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1941178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0B190-B576-4E5D-86C4-98FB41DBC757}" type="datetimeFigureOut">
              <a:rPr lang="en-IN" smtClean="0"/>
              <a:t>24-10-2026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11889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0B190-B576-4E5D-86C4-98FB41DBC757}" type="datetimeFigureOut">
              <a:rPr lang="en-IN" smtClean="0"/>
              <a:t>24-10-2026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3555785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40B190-B576-4E5D-86C4-98FB41DBC757}" type="datetimeFigureOut">
              <a:rPr lang="en-IN" smtClean="0"/>
              <a:t>24-10-2026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154268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540B190-B576-4E5D-86C4-98FB41DBC757}" type="datetimeFigureOut">
              <a:rPr lang="en-IN" smtClean="0"/>
              <a:t>24-10-2026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34095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540B190-B576-4E5D-86C4-98FB41DBC757}" type="datetimeFigureOut">
              <a:rPr lang="en-IN" smtClean="0"/>
              <a:t>24-10-2026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2CB849D0-A4B1-4587-AC4A-B99635E4030B}"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36593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1540B190-B576-4E5D-86C4-98FB41DBC757}" type="datetimeFigureOut">
              <a:rPr lang="en-IN" smtClean="0"/>
              <a:t>24-10-2026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2830230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540B190-B576-4E5D-86C4-98FB41DBC757}" type="datetimeFigureOut">
              <a:rPr lang="en-IN" smtClean="0"/>
              <a:t>24-10-2026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3054032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540B190-B576-4E5D-86C4-98FB41DBC757}" type="datetimeFigureOut">
              <a:rPr lang="en-IN" smtClean="0"/>
              <a:t>24-10-2026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3936553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0B190-B576-4E5D-86C4-98FB41DBC757}" type="datetimeFigureOut">
              <a:rPr lang="en-IN" smtClean="0"/>
              <a:t>24-10-2026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2569288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1540B190-B576-4E5D-86C4-98FB41DBC757}" type="datetimeFigureOut">
              <a:rPr lang="en-IN" smtClean="0"/>
              <a:t>24-10-2026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2CB849D0-A4B1-4587-AC4A-B99635E4030B}" type="slidenum">
              <a:rPr lang="en-IN" smtClean="0"/>
              <a:t>‹#›</a:t>
            </a:fld>
            <a:endParaRPr lang="en-IN"/>
          </a:p>
        </p:txBody>
      </p:sp>
    </p:spTree>
    <p:extLst>
      <p:ext uri="{BB962C8B-B14F-4D97-AF65-F5344CB8AC3E}">
        <p14:creationId xmlns:p14="http://schemas.microsoft.com/office/powerpoint/2010/main" val="4280050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540B190-B576-4E5D-86C4-98FB41DBC757}" type="datetimeFigureOut">
              <a:rPr lang="en-IN" smtClean="0"/>
              <a:t>24-10-2026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CB849D0-A4B1-4587-AC4A-B99635E4030B}" type="slidenum">
              <a:rPr lang="en-IN" smtClean="0"/>
              <a:t>‹#›</a:t>
            </a:fld>
            <a:endParaRPr lang="en-IN"/>
          </a:p>
        </p:txBody>
      </p:sp>
    </p:spTree>
    <p:extLst>
      <p:ext uri="{BB962C8B-B14F-4D97-AF65-F5344CB8AC3E}">
        <p14:creationId xmlns:p14="http://schemas.microsoft.com/office/powerpoint/2010/main" val="2689821741"/>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ciencedirect.com/topics/engineering/blind-signal-separation" TargetMode="External"/><Relationship Id="rId2" Type="http://schemas.openxmlformats.org/officeDocument/2006/relationships/hyperlink" Target="https://www.sciencedirect.com/author/7401936935/shengli-xie" TargetMode="External"/><Relationship Id="rId1" Type="http://schemas.openxmlformats.org/officeDocument/2006/relationships/slideLayout" Target="../slideLayouts/slideLayout2.xml"/><Relationship Id="rId6" Type="http://schemas.openxmlformats.org/officeDocument/2006/relationships/hyperlink" Target="https://www.sciencedirect.com/topics/engineering/reverberation" TargetMode="External"/><Relationship Id="rId5" Type="http://schemas.openxmlformats.org/officeDocument/2006/relationships/hyperlink" Target="https://www.sciencedirect.com/topics/engineering/auxiliary-function" TargetMode="External"/><Relationship Id="rId4" Type="http://schemas.openxmlformats.org/officeDocument/2006/relationships/hyperlink" Target="https://www.sciencedirect.com/topics/engineering/matrix-factoriza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sciencedirect.com/topics/computer-science/wavelet-transform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pubmed.ncbi.nlm.nih.gov/?term=Alotaibi%20R%5BAuthor%5D" TargetMode="External"/><Relationship Id="rId2" Type="http://schemas.openxmlformats.org/officeDocument/2006/relationships/hyperlink" Target="https://pubmed.ncbi.nlm.nih.gov/?term=Boulares%20M%5BAuthor%5D" TargetMode="External"/><Relationship Id="rId1" Type="http://schemas.openxmlformats.org/officeDocument/2006/relationships/slideLayout" Target="../slideLayouts/slideLayout2.xml"/><Relationship Id="rId6" Type="http://schemas.openxmlformats.org/officeDocument/2006/relationships/hyperlink" Target="https://www.ncbi.nlm.nih.gov/pmc/articles/PMC8535944/" TargetMode="External"/><Relationship Id="rId5" Type="http://schemas.openxmlformats.org/officeDocument/2006/relationships/hyperlink" Target="https://pubmed.ncbi.nlm.nih.gov/?term=Barnawi%20A%5BAuthor%5D" TargetMode="External"/><Relationship Id="rId4" Type="http://schemas.openxmlformats.org/officeDocument/2006/relationships/hyperlink" Target="https://pubmed.ncbi.nlm.nih.gov/?term=AlMansour%20A%5BAuthor%5D"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0/folders/1piGrTZGVrDvYz1WyUCd6C7VMusSFs8di" TargetMode="External"/><Relationship Id="rId2" Type="http://schemas.openxmlformats.org/officeDocument/2006/relationships/hyperlink" Target="https://colab.research.google.com/drive/1WVxTVvBHTm3yXPCrMJcR9yFYIvBL9st5"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sciencedirect.com/science/article/abs/pii/S2468867321000390" TargetMode="External"/><Relationship Id="rId2" Type="http://schemas.openxmlformats.org/officeDocument/2006/relationships/hyperlink" Target="https://ieeexplore.ieee.org/document/10043447" TargetMode="External"/><Relationship Id="rId1" Type="http://schemas.openxmlformats.org/officeDocument/2006/relationships/slideLayout" Target="../slideLayouts/slideLayout2.xml"/><Relationship Id="rId5" Type="http://schemas.openxmlformats.org/officeDocument/2006/relationships/hyperlink" Target="https://drive.google.com/drive/folders/1PzWx71w-v6jf9BtW7zJgf52HJ69nT13C?usp=sharing" TargetMode="External"/><Relationship Id="rId4" Type="http://schemas.openxmlformats.org/officeDocument/2006/relationships/hyperlink" Target="https://www.ncbi.nlm.nih.gov/pmc/articles/PMC853594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5B59-A112-E03F-C33E-FB085A846C99}"/>
              </a:ext>
            </a:extLst>
          </p:cNvPr>
          <p:cNvSpPr>
            <a:spLocks noGrp="1"/>
          </p:cNvSpPr>
          <p:nvPr>
            <p:ph type="ctrTitle"/>
          </p:nvPr>
        </p:nvSpPr>
        <p:spPr>
          <a:xfrm>
            <a:off x="1332271" y="958252"/>
            <a:ext cx="10171471" cy="1825096"/>
          </a:xfrm>
        </p:spPr>
        <p:txBody>
          <a:bodyPr>
            <a:noAutofit/>
          </a:bodyPr>
          <a:lstStyle/>
          <a:p>
            <a:r>
              <a:rPr lang="en-IN" sz="2800" b="1" dirty="0">
                <a:solidFill>
                  <a:schemeClr val="accent1"/>
                </a:solidFill>
                <a:effectLst>
                  <a:outerShdw blurRad="38100" dist="38100" dir="2700000" algn="tl">
                    <a:srgbClr val="000000">
                      <a:alpha val="43137"/>
                    </a:srgbClr>
                  </a:outerShdw>
                </a:effectLst>
                <a:latin typeface="Bahnschrift SemiBold" panose="020B0502040204020203" pitchFamily="34" charset="0"/>
              </a:rPr>
              <a:t>21ECPT0 – DEEP LEARNING FOR SPEECH PROCESSING</a:t>
            </a:r>
            <a:br>
              <a:rPr lang="en-IN" sz="2800" b="1" dirty="0">
                <a:solidFill>
                  <a:schemeClr val="accent1"/>
                </a:solidFill>
                <a:effectLst>
                  <a:outerShdw blurRad="38100" dist="38100" dir="2700000" algn="tl">
                    <a:srgbClr val="000000">
                      <a:alpha val="43137"/>
                    </a:srgbClr>
                  </a:outerShdw>
                </a:effectLst>
                <a:latin typeface="Bahnschrift SemiBold" panose="020B0502040204020203" pitchFamily="34" charset="0"/>
              </a:rPr>
            </a:br>
            <a:br>
              <a:rPr lang="en-IN" sz="2800" b="1" dirty="0">
                <a:solidFill>
                  <a:schemeClr val="accent1"/>
                </a:solidFill>
                <a:effectLst>
                  <a:outerShdw blurRad="38100" dist="38100" dir="2700000" algn="tl">
                    <a:srgbClr val="000000">
                      <a:alpha val="43137"/>
                    </a:srgbClr>
                  </a:outerShdw>
                </a:effectLst>
                <a:latin typeface="Bahnschrift SemiBold" panose="020B0502040204020203" pitchFamily="34" charset="0"/>
              </a:rPr>
            </a:br>
            <a:r>
              <a:rPr lang="en-IN" sz="2800" b="1" dirty="0">
                <a:solidFill>
                  <a:schemeClr val="accent1"/>
                </a:solidFill>
                <a:effectLst>
                  <a:outerShdw blurRad="38100" dist="38100" dir="2700000" algn="tl">
                    <a:srgbClr val="000000">
                      <a:alpha val="43137"/>
                    </a:srgbClr>
                  </a:outerShdw>
                </a:effectLst>
                <a:latin typeface="Bahnschrift SemiBold" panose="020B0502040204020203" pitchFamily="34" charset="0"/>
              </a:rPr>
              <a:t>HEART LUNG SOUND SEPARATION FOR MEDICAL DIAGNOSIS</a:t>
            </a:r>
          </a:p>
        </p:txBody>
      </p:sp>
      <p:sp>
        <p:nvSpPr>
          <p:cNvPr id="3" name="Subtitle 2">
            <a:extLst>
              <a:ext uri="{FF2B5EF4-FFF2-40B4-BE49-F238E27FC236}">
                <a16:creationId xmlns:a16="http://schemas.microsoft.com/office/drawing/2014/main" id="{265599B7-76AE-39AB-3A76-A298DDF8A9BD}"/>
              </a:ext>
            </a:extLst>
          </p:cNvPr>
          <p:cNvSpPr>
            <a:spLocks noGrp="1"/>
          </p:cNvSpPr>
          <p:nvPr>
            <p:ph type="subTitle" idx="1"/>
          </p:nvPr>
        </p:nvSpPr>
        <p:spPr>
          <a:xfrm>
            <a:off x="9198078" y="4111524"/>
            <a:ext cx="4282812" cy="685800"/>
          </a:xfrm>
        </p:spPr>
        <p:txBody>
          <a:bodyPr>
            <a:noAutofit/>
          </a:bodyPr>
          <a:lstStyle/>
          <a:p>
            <a:r>
              <a:rPr lang="en-IN" sz="1600" b="1" dirty="0">
                <a:solidFill>
                  <a:srgbClr val="002060"/>
                </a:solidFill>
              </a:rPr>
              <a:t>Gladson K </a:t>
            </a:r>
          </a:p>
        </p:txBody>
      </p:sp>
    </p:spTree>
    <p:extLst>
      <p:ext uri="{BB962C8B-B14F-4D97-AF65-F5344CB8AC3E}">
        <p14:creationId xmlns:p14="http://schemas.microsoft.com/office/powerpoint/2010/main" val="4177881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CONTENTS</a:t>
            </a:r>
          </a:p>
        </p:txBody>
      </p:sp>
      <p:sp>
        <p:nvSpPr>
          <p:cNvPr id="3" name="Content Placeholder 2">
            <a:extLst>
              <a:ext uri="{FF2B5EF4-FFF2-40B4-BE49-F238E27FC236}">
                <a16:creationId xmlns:a16="http://schemas.microsoft.com/office/drawing/2014/main" id="{99CB7AF5-1762-AC52-6583-1DD97ED4B6D3}"/>
              </a:ext>
            </a:extLst>
          </p:cNvPr>
          <p:cNvSpPr>
            <a:spLocks noGrp="1"/>
          </p:cNvSpPr>
          <p:nvPr>
            <p:ph idx="1"/>
          </p:nvPr>
        </p:nvSpPr>
        <p:spPr/>
        <p:txBody>
          <a:bodyPr>
            <a:normAutofit/>
          </a:bodyPr>
          <a:lstStyle/>
          <a:p>
            <a:r>
              <a:rPr lang="en-IN" dirty="0">
                <a:latin typeface="Bahnschrift" panose="020B0502040204020203" pitchFamily="34" charset="0"/>
              </a:rPr>
              <a:t>Introduction</a:t>
            </a:r>
          </a:p>
          <a:p>
            <a:r>
              <a:rPr lang="en-IN" dirty="0">
                <a:latin typeface="Bahnschrift" panose="020B0502040204020203" pitchFamily="34" charset="0"/>
              </a:rPr>
              <a:t>Literature Review</a:t>
            </a:r>
          </a:p>
          <a:p>
            <a:r>
              <a:rPr lang="en-IN" dirty="0">
                <a:latin typeface="Bahnschrift" panose="020B0502040204020203" pitchFamily="34" charset="0"/>
              </a:rPr>
              <a:t>Research Gap</a:t>
            </a:r>
          </a:p>
          <a:p>
            <a:r>
              <a:rPr lang="en-IN" dirty="0">
                <a:latin typeface="Bahnschrift" panose="020B0502040204020203" pitchFamily="34" charset="0"/>
              </a:rPr>
              <a:t>Algorithm</a:t>
            </a:r>
          </a:p>
          <a:p>
            <a:r>
              <a:rPr lang="en-IN" dirty="0">
                <a:latin typeface="Bahnschrift" panose="020B0502040204020203" pitchFamily="34" charset="0"/>
              </a:rPr>
              <a:t>Heart Sound Signal Analysis</a:t>
            </a:r>
          </a:p>
          <a:p>
            <a:r>
              <a:rPr lang="en-IN" dirty="0">
                <a:latin typeface="Bahnschrift" panose="020B0502040204020203" pitchFamily="34" charset="0"/>
              </a:rPr>
              <a:t>Lung Sound Signal Analysis</a:t>
            </a:r>
          </a:p>
          <a:p>
            <a:r>
              <a:rPr lang="en-IN" dirty="0">
                <a:latin typeface="Bahnschrift" panose="020B0502040204020203" pitchFamily="34" charset="0"/>
              </a:rPr>
              <a:t>Probable Separation Area</a:t>
            </a:r>
          </a:p>
          <a:p>
            <a:r>
              <a:rPr lang="en-IN" dirty="0">
                <a:latin typeface="Bahnschrift" panose="020B0502040204020203" pitchFamily="34" charset="0"/>
              </a:rPr>
              <a:t>References</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Tree>
    <p:extLst>
      <p:ext uri="{BB962C8B-B14F-4D97-AF65-F5344CB8AC3E}">
        <p14:creationId xmlns:p14="http://schemas.microsoft.com/office/powerpoint/2010/main" val="1298451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INTRODUCTION</a:t>
            </a:r>
          </a:p>
        </p:txBody>
      </p:sp>
      <p:sp>
        <p:nvSpPr>
          <p:cNvPr id="3" name="Content Placeholder 2">
            <a:extLst>
              <a:ext uri="{FF2B5EF4-FFF2-40B4-BE49-F238E27FC236}">
                <a16:creationId xmlns:a16="http://schemas.microsoft.com/office/drawing/2014/main" id="{99CB7AF5-1762-AC52-6583-1DD97ED4B6D3}"/>
              </a:ext>
            </a:extLst>
          </p:cNvPr>
          <p:cNvSpPr>
            <a:spLocks noGrp="1"/>
          </p:cNvSpPr>
          <p:nvPr>
            <p:ph idx="1"/>
          </p:nvPr>
        </p:nvSpPr>
        <p:spPr/>
        <p:txBody>
          <a:bodyPr/>
          <a:lstStyle/>
          <a:p>
            <a:r>
              <a:rPr lang="en-IN" dirty="0">
                <a:latin typeface="Bahnschrift" panose="020B0502040204020203" pitchFamily="34" charset="0"/>
              </a:rPr>
              <a:t>Auscultation is important in diagnosing heart and lung disease symptoms by analysing its sound waves through stethoscope.</a:t>
            </a:r>
          </a:p>
          <a:p>
            <a:endParaRPr lang="en-IN" dirty="0">
              <a:latin typeface="Bahnschrift" panose="020B0502040204020203" pitchFamily="34" charset="0"/>
            </a:endParaRPr>
          </a:p>
          <a:p>
            <a:r>
              <a:rPr lang="en-IN" dirty="0">
                <a:latin typeface="Bahnschrift" panose="020B0502040204020203" pitchFamily="34" charset="0"/>
              </a:rPr>
              <a:t>The problem is that there is difficulty in separating heart and lung sounds as their time and frequency components overlap with each other .</a:t>
            </a:r>
          </a:p>
          <a:p>
            <a:endParaRPr lang="en-IN" dirty="0">
              <a:latin typeface="Bahnschrift" panose="020B0502040204020203" pitchFamily="34" charset="0"/>
            </a:endParaRPr>
          </a:p>
          <a:p>
            <a:r>
              <a:rPr lang="en-IN" dirty="0">
                <a:latin typeface="Bahnschrift" panose="020B0502040204020203" pitchFamily="34" charset="0"/>
              </a:rPr>
              <a:t>Since the research for separating signals is going till now, there is not a customized product to separate heart and lung sounds till now.</a:t>
            </a:r>
          </a:p>
        </p:txBody>
      </p:sp>
    </p:spTree>
    <p:extLst>
      <p:ext uri="{BB962C8B-B14F-4D97-AF65-F5344CB8AC3E}">
        <p14:creationId xmlns:p14="http://schemas.microsoft.com/office/powerpoint/2010/main" val="4223765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1867097779"/>
              </p:ext>
            </p:extLst>
          </p:nvPr>
        </p:nvGraphicFramePr>
        <p:xfrm>
          <a:off x="334297" y="1936953"/>
          <a:ext cx="11171903" cy="4375357"/>
        </p:xfrm>
        <a:graphic>
          <a:graphicData uri="http://schemas.openxmlformats.org/drawingml/2006/table">
            <a:tbl>
              <a:tblPr firstRow="1" bandRow="1">
                <a:tableStyleId>{17292A2E-F333-43FB-9621-5CBBE7FDCDCB}</a:tableStyleId>
              </a:tblPr>
              <a:tblGrid>
                <a:gridCol w="3067664">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IN" sz="1400" dirty="0"/>
                        <a:t>Hybrid </a:t>
                      </a:r>
                      <a:r>
                        <a:rPr lang="en-IN" sz="1400" dirty="0" err="1"/>
                        <a:t>Nelder</a:t>
                      </a:r>
                      <a:r>
                        <a:rPr lang="en-IN" sz="1400" dirty="0"/>
                        <a:t>-Mead search based optimal Least Mean Square algorithms for heart and lung sound separation </a:t>
                      </a:r>
                    </a:p>
                    <a:p>
                      <a:r>
                        <a:rPr lang="en-IN" sz="1400" dirty="0" err="1"/>
                        <a:t>Ruban</a:t>
                      </a:r>
                      <a:r>
                        <a:rPr lang="en-IN" sz="1400" dirty="0"/>
                        <a:t> </a:t>
                      </a:r>
                      <a:r>
                        <a:rPr lang="en-IN" sz="1400" dirty="0" err="1"/>
                        <a:t>Nersisson</a:t>
                      </a:r>
                      <a:r>
                        <a:rPr lang="en-IN" sz="1400" dirty="0"/>
                        <a:t>  , Mathew M. Noel </a:t>
                      </a:r>
                    </a:p>
                    <a:p>
                      <a:r>
                        <a:rPr lang="en-IN" sz="1400" dirty="0"/>
                        <a:t>School of Electrical Engineering, VIT University, Vellore, India</a:t>
                      </a: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dirty="0">
                          <a:latin typeface="Bahnschrift" panose="020B0502040204020203" pitchFamily="34" charset="0"/>
                        </a:rPr>
                        <a:t>An improved adaptive noise cancellation technique based on the Least Mean Square (LMS) algorithm is used to separate heart sounds from lung sounds. The step size parameter in the LMS algorithm is optimally chosen using a hybrid </a:t>
                      </a:r>
                      <a:r>
                        <a:rPr lang="en-US" sz="1400" dirty="0" err="1">
                          <a:latin typeface="Bahnschrift" panose="020B0502040204020203" pitchFamily="34" charset="0"/>
                        </a:rPr>
                        <a:t>Nelder</a:t>
                      </a:r>
                      <a:r>
                        <a:rPr lang="en-US" sz="1400" dirty="0">
                          <a:latin typeface="Bahnschrift" panose="020B0502040204020203" pitchFamily="34" charset="0"/>
                        </a:rPr>
                        <a:t>-Mead (H-NM) optimization algorithm.</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Hybrid </a:t>
                      </a:r>
                      <a:r>
                        <a:rPr lang="en-IN" sz="1400" dirty="0" err="1">
                          <a:latin typeface="Bahnschrift" panose="020B0502040204020203" pitchFamily="34" charset="0"/>
                        </a:rPr>
                        <a:t>Nelder</a:t>
                      </a:r>
                      <a:r>
                        <a:rPr lang="en-IN" sz="1400" dirty="0">
                          <a:latin typeface="Bahnschrift" panose="020B0502040204020203" pitchFamily="34" charset="0"/>
                        </a:rPr>
                        <a:t> – Mead Optimization, LMS , Noise Cancellation, Particle Swarm Optimisation</a:t>
                      </a: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data</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MATLAB/Python</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Correlation coefficient is higher for heart sound signal from input signal.</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1826645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3256779693"/>
              </p:ext>
            </p:extLst>
          </p:nvPr>
        </p:nvGraphicFramePr>
        <p:xfrm>
          <a:off x="255639" y="1936953"/>
          <a:ext cx="11250561" cy="4375357"/>
        </p:xfrm>
        <a:graphic>
          <a:graphicData uri="http://schemas.openxmlformats.org/drawingml/2006/table">
            <a:tbl>
              <a:tblPr firstRow="1" bandRow="1">
                <a:tableStyleId>{17292A2E-F333-43FB-9621-5CBBE7FDCDCB}</a:tableStyleId>
              </a:tblPr>
              <a:tblGrid>
                <a:gridCol w="3146322">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IN" sz="1400" dirty="0"/>
                        <a:t>Noisy Neonatal Chest Sound Separation for High-Quality Heart and Lung Sounds</a:t>
                      </a:r>
                    </a:p>
                    <a:p>
                      <a:r>
                        <a:rPr lang="en-IN" sz="1400" dirty="0"/>
                        <a:t>E. GROOBY, Student Member, IEEE, C. SITAULA, D. FATTAHI, R. SAMENI, Senior Member, IEEE, K. TAN, L. ZHOU, A. KING, A. RAMANATHAN, A. MALHOTRA, G.A. DUMONT, Life Fellow, IEEE, AND F. MARZBANRAD, Senior Member, IEEE</a:t>
                      </a:r>
                      <a:endParaRPr lang="en-IN" sz="140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IN" sz="1400" dirty="0">
                          <a:latin typeface="Bahnschrift" panose="020B0502040204020203" pitchFamily="34" charset="0"/>
                        </a:rPr>
                        <a:t>This paper presents novel Non-negative Matrix Factorisation (NMF) and Non-negative Matrix Co-Factorisation (NMCF) methods for neonatal chest sound separation. </a:t>
                      </a: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Autoencoder, Adaptive Fourier Decomposition, Non-negative matrix Factorisation and </a:t>
                      </a:r>
                      <a:r>
                        <a:rPr lang="en-IN" sz="1400" dirty="0" err="1">
                          <a:latin typeface="Bahnschrift" panose="020B0502040204020203" pitchFamily="34" charset="0"/>
                        </a:rPr>
                        <a:t>Cofactorisation</a:t>
                      </a:r>
                      <a:r>
                        <a:rPr lang="en-IN" sz="1400" dirty="0">
                          <a:latin typeface="Bahnschrift" panose="020B0502040204020203" pitchFamily="34" charset="0"/>
                        </a:rPr>
                        <a:t> , Wavelet Transform</a:t>
                      </a: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Noisy Neonatal Heart and lung sound data</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MATLAB</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NMF performed with SNR 2.6 dB and NMCF performed with SNR 11.6 dB</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1215267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1108324221"/>
              </p:ext>
            </p:extLst>
          </p:nvPr>
        </p:nvGraphicFramePr>
        <p:xfrm>
          <a:off x="285135" y="1936953"/>
          <a:ext cx="11221065" cy="4375357"/>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US" sz="1400" dirty="0"/>
                        <a:t>Heart sound and lung sound separation algorithms: a review</a:t>
                      </a:r>
                      <a:endParaRPr lang="en-IN" sz="1400" dirty="0"/>
                    </a:p>
                    <a:p>
                      <a:r>
                        <a:rPr lang="en-IN" sz="1400" dirty="0" err="1"/>
                        <a:t>Ruban</a:t>
                      </a:r>
                      <a:r>
                        <a:rPr lang="en-IN" sz="1400" dirty="0"/>
                        <a:t> </a:t>
                      </a:r>
                      <a:r>
                        <a:rPr lang="en-IN" sz="1400" dirty="0" err="1"/>
                        <a:t>Nersisson</a:t>
                      </a:r>
                      <a:r>
                        <a:rPr lang="en-IN" sz="1400" dirty="0"/>
                        <a:t>  , Mathew M. Noel </a:t>
                      </a:r>
                    </a:p>
                    <a:p>
                      <a:r>
                        <a:rPr lang="en-IN" sz="1400" dirty="0"/>
                        <a:t>School of Electrical Engineering, VIT University, Vellore, India</a:t>
                      </a:r>
                      <a:endParaRPr lang="en-IN" sz="140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dirty="0">
                          <a:latin typeface="Bahnschrift" panose="020B0502040204020203" pitchFamily="34" charset="0"/>
                        </a:rPr>
                        <a:t>A study is carried out on different algorithms used for the separation of HSS from LSS, and also the results of major four separation algorithms are compared.</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Adaptive Line Enhancement, Spectrogram Independent Component Analysis, Adaptive filter with Automatic gain Control</a:t>
                      </a: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data</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MATLAB</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A comparative study between 4 algorithms is received.</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1556517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2378929050"/>
              </p:ext>
            </p:extLst>
          </p:nvPr>
        </p:nvGraphicFramePr>
        <p:xfrm>
          <a:off x="285135" y="1936953"/>
          <a:ext cx="11221065" cy="4375357"/>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IN" sz="1400" dirty="0" err="1"/>
                        <a:t>Hemodynamics</a:t>
                      </a:r>
                      <a:r>
                        <a:rPr lang="en-IN" sz="1400" dirty="0"/>
                        <a:t>-driven mathematical model of first and second heart sound generation</a:t>
                      </a:r>
                    </a:p>
                    <a:p>
                      <a:r>
                        <a:rPr lang="en-IN" sz="1400" dirty="0"/>
                        <a:t>Mehrdad ShahmohammadiID1 *, </a:t>
                      </a:r>
                      <a:r>
                        <a:rPr lang="en-IN" sz="1400" dirty="0" err="1"/>
                        <a:t>Hongxing</a:t>
                      </a:r>
                      <a:r>
                        <a:rPr lang="en-IN" sz="1400" dirty="0"/>
                        <a:t> Luo2 , Philip Westphal2,3, Richard N. Cornelussen2,3, Frits W. Prinzen2 , </a:t>
                      </a:r>
                      <a:r>
                        <a:rPr lang="en-IN" sz="1400" dirty="0" err="1"/>
                        <a:t>Tammo</a:t>
                      </a:r>
                      <a:r>
                        <a:rPr lang="en-IN" sz="1400" dirty="0"/>
                        <a:t> </a:t>
                      </a:r>
                      <a:r>
                        <a:rPr lang="en-IN" sz="1400" dirty="0" err="1"/>
                        <a:t>DelhaasID</a:t>
                      </a:r>
                      <a:endParaRPr lang="en-IN" sz="140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dirty="0">
                          <a:latin typeface="Bahnschrift" panose="020B0502040204020203" pitchFamily="34" charset="0"/>
                        </a:rPr>
                        <a:t>our hemodynamics-driven mathematical model provides fast and realistic simulations of heart sounds under various conditions and may be helpful to find new indicators for diagnosis and prognosis of cardiac diseases.</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Mathematical modelling for </a:t>
                      </a:r>
                      <a:r>
                        <a:rPr lang="en-US" sz="1400" dirty="0" err="1">
                          <a:latin typeface="Bahnschrift" panose="020B0502040204020203" pitchFamily="34" charset="0"/>
                        </a:rPr>
                        <a:t>CircAdapt</a:t>
                      </a:r>
                      <a:r>
                        <a:rPr lang="en-US" sz="1400" dirty="0">
                          <a:latin typeface="Bahnschrift" panose="020B0502040204020203" pitchFamily="34" charset="0"/>
                        </a:rPr>
                        <a:t>, a lumped-parameter real-time computational model of the cardiovascular system chirp signal modelling</a:t>
                      </a:r>
                      <a:endParaRPr lang="en-IN" sz="1400" dirty="0">
                        <a:latin typeface="Bahnschrift" panose="020B0502040204020203" pitchFamily="34" charset="0"/>
                      </a:endParaRP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No Input Data modelling</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MATLAB</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It can be used in separating heart signal from given signal </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1534398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1941870912"/>
              </p:ext>
            </p:extLst>
          </p:nvPr>
        </p:nvGraphicFramePr>
        <p:xfrm>
          <a:off x="285135" y="1936953"/>
          <a:ext cx="11221065" cy="4551410"/>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US" sz="1400" dirty="0"/>
                        <a:t>System of heart and lung sounds separation for store-and-forward telemedicine applications</a:t>
                      </a:r>
                    </a:p>
                    <a:p>
                      <a:r>
                        <a:rPr lang="en-IN" sz="1400" dirty="0"/>
                        <a:t>Antonio </a:t>
                      </a:r>
                      <a:r>
                        <a:rPr lang="en-IN" sz="1400" dirty="0" err="1"/>
                        <a:t>JosÈ</a:t>
                      </a:r>
                      <a:r>
                        <a:rPr lang="en-IN" sz="1400" dirty="0"/>
                        <a:t> Salazar*1, Catalina Alvarado1 , Fernando Enrique Lozano2 1 Biomedical Engineering Group (GIB). University of Los Andes. </a:t>
                      </a:r>
                      <a:r>
                        <a:rPr lang="en-IN" sz="1400" dirty="0" err="1"/>
                        <a:t>EdiÆ</a:t>
                      </a:r>
                      <a:r>
                        <a:rPr lang="en-IN" sz="1400" dirty="0"/>
                        <a:t> </a:t>
                      </a:r>
                      <a:r>
                        <a:rPr lang="en-IN" sz="1400" dirty="0" err="1"/>
                        <a:t>cio</a:t>
                      </a:r>
                      <a:r>
                        <a:rPr lang="en-IN" sz="1400" dirty="0"/>
                        <a:t> Mario </a:t>
                      </a:r>
                      <a:r>
                        <a:rPr lang="en-IN" sz="1400" dirty="0" err="1"/>
                        <a:t>Laserna</a:t>
                      </a:r>
                      <a:r>
                        <a:rPr lang="en-IN" sz="1400" dirty="0"/>
                        <a:t> </a:t>
                      </a:r>
                      <a:r>
                        <a:rPr lang="en-IN" sz="1400" dirty="0" err="1"/>
                        <a:t>Cra</a:t>
                      </a:r>
                      <a:r>
                        <a:rPr lang="en-IN" sz="1400" dirty="0"/>
                        <a:t> 1 Este No . 19A-40. </a:t>
                      </a:r>
                      <a:r>
                        <a:rPr lang="en-IN" sz="1400" dirty="0" err="1"/>
                        <a:t>Bogot</a:t>
                      </a:r>
                      <a:r>
                        <a:rPr lang="en-IN" sz="1400" dirty="0"/>
                        <a:t>·, Colombia.</a:t>
                      </a:r>
                      <a:endParaRPr lang="en-IN" sz="140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dirty="0">
                          <a:latin typeface="Bahnschrift" panose="020B0502040204020203" pitchFamily="34" charset="0"/>
                        </a:rPr>
                        <a:t>we apply modulation filters to the time-frequency representation of the original signal, recorded on the chest. Second, we apply an iterative algorithm of wavelet decomposition and reconstruction filters</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Short Time Fourier Transform, Adaptive bandpass filter, Inverse Short time Fourier </a:t>
                      </a:r>
                      <a:r>
                        <a:rPr lang="en-IN" sz="1400" dirty="0" err="1">
                          <a:latin typeface="Bahnschrift" panose="020B0502040204020203" pitchFamily="34" charset="0"/>
                        </a:rPr>
                        <a:t>Tranform</a:t>
                      </a:r>
                      <a:endParaRPr lang="en-IN" sz="1400" dirty="0">
                        <a:latin typeface="Bahnschrift" panose="020B0502040204020203" pitchFamily="34" charset="0"/>
                      </a:endParaRP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recorded</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Python/MATLAB</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It is one of the hardware implemented procedure to filter heart signal from lung signal with effective rate of 10.21dB and 6.61dB</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3662990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2916799186"/>
              </p:ext>
            </p:extLst>
          </p:nvPr>
        </p:nvGraphicFramePr>
        <p:xfrm>
          <a:off x="285135" y="1936953"/>
          <a:ext cx="11221065" cy="4375357"/>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IN" sz="1400" b="1" i="0" kern="1200" dirty="0">
                          <a:solidFill>
                            <a:schemeClr val="bg1"/>
                          </a:solidFill>
                          <a:effectLst/>
                          <a:latin typeface="Bahnschrift" panose="020B0502040204020203" pitchFamily="34" charset="0"/>
                          <a:ea typeface="+mn-ea"/>
                          <a:cs typeface="+mn-cs"/>
                        </a:rPr>
                        <a:t>Reverberant blind separation of heart and lung sounds using nonnegative matrix factorization and auxiliary function technique</a:t>
                      </a:r>
                    </a:p>
                    <a:p>
                      <a:r>
                        <a:rPr lang="en-IN" sz="1400" b="1" i="0" kern="1200" dirty="0">
                          <a:solidFill>
                            <a:schemeClr val="bg1"/>
                          </a:solidFill>
                          <a:effectLst/>
                          <a:latin typeface="Bahnschrift" panose="020B0502040204020203" pitchFamily="34" charset="0"/>
                          <a:ea typeface="+mn-ea"/>
                          <a:cs typeface="+mn-cs"/>
                        </a:rPr>
                        <a:t>Author links open overlay panel Yuan Xie, Kan Xie , </a:t>
                      </a:r>
                      <a:r>
                        <a:rPr lang="en-IN" sz="1400" b="1" i="0" kern="1200" dirty="0" err="1">
                          <a:solidFill>
                            <a:schemeClr val="bg1"/>
                          </a:solidFill>
                          <a:effectLst/>
                          <a:latin typeface="Bahnschrift" panose="020B0502040204020203" pitchFamily="34" charset="0"/>
                          <a:ea typeface="+mn-ea"/>
                          <a:cs typeface="+mn-cs"/>
                        </a:rPr>
                        <a:t>Qiyu</a:t>
                      </a:r>
                      <a:r>
                        <a:rPr lang="en-IN" sz="1400" b="1" i="0" kern="1200" dirty="0">
                          <a:solidFill>
                            <a:schemeClr val="bg1"/>
                          </a:solidFill>
                          <a:effectLst/>
                          <a:latin typeface="Bahnschrift" panose="020B0502040204020203" pitchFamily="34" charset="0"/>
                          <a:ea typeface="+mn-ea"/>
                          <a:cs typeface="+mn-cs"/>
                        </a:rPr>
                        <a:t> Yang, </a:t>
                      </a:r>
                      <a:r>
                        <a:rPr lang="en-IN" sz="1400" b="1" i="0" u="none" strike="noStrike" kern="1200" dirty="0" err="1">
                          <a:solidFill>
                            <a:srgbClr val="0066FF"/>
                          </a:solidFill>
                          <a:effectLst/>
                          <a:latin typeface="Bahnschrift" panose="020B0502040204020203" pitchFamily="34" charset="0"/>
                          <a:ea typeface="+mn-ea"/>
                          <a:cs typeface="+mn-cs"/>
                          <a:hlinkClick r:id="rId2">
                            <a:extLst>
                              <a:ext uri="{A12FA001-AC4F-418D-AE19-62706E023703}">
                                <ahyp:hlinkClr xmlns:ahyp="http://schemas.microsoft.com/office/drawing/2018/hyperlinkcolor" val="tx"/>
                              </a:ext>
                            </a:extLst>
                          </a:hlinkClick>
                        </a:rPr>
                        <a:t>Shengli</a:t>
                      </a:r>
                      <a:r>
                        <a:rPr lang="en-IN" sz="1400" b="1" i="0" u="none" strike="noStrike" kern="1200" dirty="0">
                          <a:solidFill>
                            <a:schemeClr val="bg1"/>
                          </a:solidFill>
                          <a:effectLst/>
                          <a:latin typeface="Bahnschrift" panose="020B0502040204020203" pitchFamily="34" charset="0"/>
                          <a:ea typeface="+mn-ea"/>
                          <a:cs typeface="+mn-cs"/>
                          <a:hlinkClick r:id="rId2">
                            <a:extLst>
                              <a:ext uri="{A12FA001-AC4F-418D-AE19-62706E023703}">
                                <ahyp:hlinkClr xmlns:ahyp="http://schemas.microsoft.com/office/drawing/2018/hyperlinkcolor" val="tx"/>
                              </a:ext>
                            </a:extLst>
                          </a:hlinkClick>
                        </a:rPr>
                        <a:t> Xie</a:t>
                      </a:r>
                      <a:r>
                        <a:rPr lang="en-IN" sz="1400" b="1" i="0" u="none" strike="noStrike" kern="1200" dirty="0">
                          <a:solidFill>
                            <a:srgbClr val="0066FF"/>
                          </a:solidFill>
                          <a:effectLst/>
                          <a:latin typeface="Bahnschrift" panose="020B0502040204020203" pitchFamily="34" charset="0"/>
                          <a:ea typeface="+mn-ea"/>
                          <a:cs typeface="+mn-cs"/>
                          <a:hlinkClick r:id="rId2">
                            <a:extLst>
                              <a:ext uri="{A12FA001-AC4F-418D-AE19-62706E023703}">
                                <ahyp:hlinkClr xmlns:ahyp="http://schemas.microsoft.com/office/drawing/2018/hyperlinkcolor" val="tx"/>
                              </a:ext>
                            </a:extLst>
                          </a:hlinkClick>
                        </a:rPr>
                        <a:t> </a:t>
                      </a:r>
                      <a:endParaRPr lang="en-IN" sz="1400" b="1" i="0" kern="1200" dirty="0">
                        <a:solidFill>
                          <a:schemeClr val="bg1"/>
                        </a:solidFill>
                        <a:effectLst/>
                        <a:latin typeface="Bahnschrift" panose="020B0502040204020203" pitchFamily="34" charset="0"/>
                        <a:ea typeface="+mn-ea"/>
                        <a:cs typeface="+mn-cs"/>
                      </a:endParaRPr>
                    </a:p>
                    <a:p>
                      <a:endParaRPr lang="en-IN" sz="140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b="0" i="0" kern="1200" dirty="0">
                          <a:solidFill>
                            <a:schemeClr val="tx1"/>
                          </a:solidFill>
                          <a:effectLst/>
                          <a:latin typeface="Bahnschrift" panose="020B0502040204020203" pitchFamily="34" charset="0"/>
                          <a:ea typeface="+mn-ea"/>
                          <a:cs typeface="+mn-cs"/>
                        </a:rPr>
                        <a:t> A novel </a:t>
                      </a:r>
                      <a:r>
                        <a:rPr lang="en-US" sz="1400" b="0" i="0" kern="1200" dirty="0">
                          <a:solidFill>
                            <a:schemeClr val="tx1"/>
                          </a:solidFill>
                          <a:effectLst/>
                          <a:latin typeface="Bahnschrift" panose="020B0502040204020203" pitchFamily="34" charset="0"/>
                          <a:ea typeface="+mn-ea"/>
                          <a:cs typeface="+mn-cs"/>
                          <a:hlinkClick r:id="rId3" tooltip="Learn more about blind source separation from ScienceDirect's AI-generated Topic Pages"/>
                        </a:rPr>
                        <a:t>blind source separation</a:t>
                      </a:r>
                      <a:r>
                        <a:rPr lang="en-US" sz="1400" b="0" i="0" kern="1200" dirty="0">
                          <a:solidFill>
                            <a:schemeClr val="tx1"/>
                          </a:solidFill>
                          <a:effectLst/>
                          <a:latin typeface="Bahnschrift" panose="020B0502040204020203" pitchFamily="34" charset="0"/>
                          <a:ea typeface="+mn-ea"/>
                          <a:cs typeface="+mn-cs"/>
                        </a:rPr>
                        <a:t> (BSS) method is proposed based on nonnegative </a:t>
                      </a:r>
                      <a:r>
                        <a:rPr lang="en-US" sz="1400" b="0" i="0" kern="1200" dirty="0">
                          <a:solidFill>
                            <a:schemeClr val="tx1"/>
                          </a:solidFill>
                          <a:effectLst/>
                          <a:latin typeface="Bahnschrift" panose="020B0502040204020203" pitchFamily="34" charset="0"/>
                          <a:ea typeface="+mn-ea"/>
                          <a:cs typeface="+mn-cs"/>
                          <a:hlinkClick r:id="rId4" tooltip="Learn more about matrix factorization from ScienceDirect's AI-generated Topic Pages"/>
                        </a:rPr>
                        <a:t>matrix factorization</a:t>
                      </a:r>
                      <a:r>
                        <a:rPr lang="en-US" sz="1400" b="0" i="0" kern="1200" dirty="0">
                          <a:solidFill>
                            <a:schemeClr val="tx1"/>
                          </a:solidFill>
                          <a:effectLst/>
                          <a:latin typeface="Bahnschrift" panose="020B0502040204020203" pitchFamily="34" charset="0"/>
                          <a:ea typeface="+mn-ea"/>
                          <a:cs typeface="+mn-cs"/>
                        </a:rPr>
                        <a:t> (NMF) and </a:t>
                      </a:r>
                      <a:r>
                        <a:rPr lang="en-US" sz="1400" b="0" i="0" kern="1200" dirty="0">
                          <a:solidFill>
                            <a:schemeClr val="tx1"/>
                          </a:solidFill>
                          <a:effectLst/>
                          <a:latin typeface="Bahnschrift" panose="020B0502040204020203" pitchFamily="34" charset="0"/>
                          <a:ea typeface="+mn-ea"/>
                          <a:cs typeface="+mn-cs"/>
                          <a:hlinkClick r:id="rId5" tooltip="Learn more about auxiliary function from ScienceDirect's AI-generated Topic Pages"/>
                        </a:rPr>
                        <a:t>auxiliary function</a:t>
                      </a:r>
                      <a:r>
                        <a:rPr lang="en-US" sz="1400" b="0" i="0" kern="1200" dirty="0">
                          <a:solidFill>
                            <a:schemeClr val="tx1"/>
                          </a:solidFill>
                          <a:effectLst/>
                          <a:latin typeface="Bahnschrift" panose="020B0502040204020203" pitchFamily="34" charset="0"/>
                          <a:ea typeface="+mn-ea"/>
                          <a:cs typeface="+mn-cs"/>
                        </a:rPr>
                        <a:t> technique for the separation of heart sound mixtures and lung sound mixtures in the </a:t>
                      </a:r>
                      <a:r>
                        <a:rPr lang="en-US" sz="1400" b="0" i="0" kern="1200" dirty="0">
                          <a:solidFill>
                            <a:schemeClr val="tx1"/>
                          </a:solidFill>
                          <a:effectLst/>
                          <a:latin typeface="Bahnschrift" panose="020B0502040204020203" pitchFamily="34" charset="0"/>
                          <a:ea typeface="+mn-ea"/>
                          <a:cs typeface="+mn-cs"/>
                          <a:hlinkClick r:id="rId6" tooltip="Learn more about reverberation from ScienceDirect's AI-generated Topic Pages"/>
                        </a:rPr>
                        <a:t>reverberation</a:t>
                      </a:r>
                      <a:r>
                        <a:rPr lang="en-US" sz="1400" b="0" i="0" kern="1200" dirty="0">
                          <a:solidFill>
                            <a:schemeClr val="tx1"/>
                          </a:solidFill>
                          <a:effectLst/>
                          <a:latin typeface="Bahnschrift" panose="020B0502040204020203" pitchFamily="34" charset="0"/>
                          <a:ea typeface="+mn-ea"/>
                          <a:cs typeface="+mn-cs"/>
                        </a:rPr>
                        <a:t> environment</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DSS denoising, Non-negative matrix factorization and auxiliary function</a:t>
                      </a: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recorded</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Stethoscope, STFT filter, MATLAB</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This paper also uses Non-negative matrix factorization technique</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3748471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3466927401"/>
              </p:ext>
            </p:extLst>
          </p:nvPr>
        </p:nvGraphicFramePr>
        <p:xfrm>
          <a:off x="285135" y="1936953"/>
          <a:ext cx="11221065" cy="4375357"/>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IN" sz="1400" b="1" dirty="0">
                          <a:latin typeface="Bahnschrift" panose="020B0502040204020203" pitchFamily="34" charset="0"/>
                        </a:rPr>
                        <a:t>Blind Monaural Source Separation on Heart and Lung Sounds Based on Periodic-Coded Deep Autoencoder Kun-</a:t>
                      </a:r>
                      <a:r>
                        <a:rPr lang="en-IN" sz="1400" b="1" dirty="0" err="1">
                          <a:latin typeface="Bahnschrift" panose="020B0502040204020203" pitchFamily="34" charset="0"/>
                        </a:rPr>
                        <a:t>Hsi</a:t>
                      </a:r>
                      <a:r>
                        <a:rPr lang="en-IN" sz="1400" b="1" dirty="0">
                          <a:latin typeface="Bahnschrift" panose="020B0502040204020203" pitchFamily="34" charset="0"/>
                        </a:rPr>
                        <a:t> Tsai1, Wei-Chien Wang1,  Chui-</a:t>
                      </a:r>
                      <a:r>
                        <a:rPr lang="en-IN" sz="1400" b="1" dirty="0" err="1">
                          <a:latin typeface="Bahnschrift" panose="020B0502040204020203" pitchFamily="34" charset="0"/>
                        </a:rPr>
                        <a:t>Hsuan</a:t>
                      </a:r>
                      <a:r>
                        <a:rPr lang="en-IN" sz="1400" b="1" dirty="0">
                          <a:latin typeface="Bahnschrift" panose="020B0502040204020203" pitchFamily="34" charset="0"/>
                        </a:rPr>
                        <a:t> Cheng1, Chan-Yen Tsai1, </a:t>
                      </a:r>
                      <a:r>
                        <a:rPr lang="en-IN" sz="1400" b="1" dirty="0" err="1">
                          <a:latin typeface="Bahnschrift" panose="020B0502040204020203" pitchFamily="34" charset="0"/>
                        </a:rPr>
                        <a:t>Jou</a:t>
                      </a:r>
                      <a:r>
                        <a:rPr lang="en-IN" sz="1400" b="1" dirty="0">
                          <a:latin typeface="Bahnschrift" panose="020B0502040204020203" pitchFamily="34" charset="0"/>
                        </a:rPr>
                        <a:t>-Kou Wang2, Tzu-Hao Lin3,  Shih-Hau Fang4, Li-Chin Chen5, Yu Tsao5 </a:t>
                      </a: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dirty="0">
                          <a:latin typeface="Bahnschrift" panose="020B0502040204020203" pitchFamily="34" charset="0"/>
                        </a:rPr>
                        <a:t>A novel periodicity-coded deep auto-encoder (PC-DAE) approach to separate mixed heart-lung sounds in an unsupervised manner via the assumption of different periodicities between heart rate and respiration rate.</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Supervised Non negative matrix factorization and deep autoencoder</a:t>
                      </a: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recorded</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Python</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US" sz="1400" dirty="0">
                          <a:latin typeface="Bahnschrift" panose="020B0502040204020203" pitchFamily="34" charset="0"/>
                        </a:rPr>
                        <a:t>PC-DAE does not require supervised training data to train </a:t>
                      </a:r>
                      <a:endParaRPr lang="en-IN" sz="1400" dirty="0">
                        <a:latin typeface="Bahnschrift" panose="020B0502040204020203" pitchFamily="34" charset="0"/>
                      </a:endParaRP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2376400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2942260300"/>
              </p:ext>
            </p:extLst>
          </p:nvPr>
        </p:nvGraphicFramePr>
        <p:xfrm>
          <a:off x="285135" y="1936953"/>
          <a:ext cx="11221065" cy="4375357"/>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US" sz="1400" b="1" i="0" kern="1200" dirty="0">
                          <a:solidFill>
                            <a:schemeClr val="bg1"/>
                          </a:solidFill>
                          <a:effectLst/>
                          <a:latin typeface="Bahnschrift" panose="020B0502040204020203" pitchFamily="34" charset="0"/>
                          <a:ea typeface="+mn-ea"/>
                          <a:cs typeface="+mn-cs"/>
                        </a:rPr>
                        <a:t>A wavelet-based reduction of heart sound noise from lung sound</a:t>
                      </a:r>
                    </a:p>
                    <a:p>
                      <a:r>
                        <a:rPr lang="en-US" sz="1400" b="1" i="0" kern="1200" dirty="0" err="1">
                          <a:solidFill>
                            <a:schemeClr val="bg1"/>
                          </a:solidFill>
                          <a:effectLst/>
                          <a:latin typeface="Bahnschrift" panose="020B0502040204020203" pitchFamily="34" charset="0"/>
                          <a:ea typeface="+mn-ea"/>
                          <a:cs typeface="+mn-cs"/>
                        </a:rPr>
                        <a:t>Leontios</a:t>
                      </a:r>
                      <a:r>
                        <a:rPr lang="en-US" sz="1400" b="1" i="0" kern="1200" dirty="0">
                          <a:solidFill>
                            <a:schemeClr val="bg1"/>
                          </a:solidFill>
                          <a:effectLst/>
                          <a:latin typeface="Bahnschrift" panose="020B0502040204020203" pitchFamily="34" charset="0"/>
                          <a:ea typeface="+mn-ea"/>
                          <a:cs typeface="+mn-cs"/>
                        </a:rPr>
                        <a:t> J. </a:t>
                      </a:r>
                      <a:r>
                        <a:rPr lang="en-US" sz="1400" b="1" i="0" kern="1200" dirty="0" err="1">
                          <a:solidFill>
                            <a:schemeClr val="bg1"/>
                          </a:solidFill>
                          <a:effectLst/>
                          <a:latin typeface="Bahnschrift" panose="020B0502040204020203" pitchFamily="34" charset="0"/>
                          <a:ea typeface="+mn-ea"/>
                          <a:cs typeface="+mn-cs"/>
                        </a:rPr>
                        <a:t>Hadjileontiadis</a:t>
                      </a:r>
                      <a:r>
                        <a:rPr lang="en-US" sz="1400" b="1" i="0" kern="1200" dirty="0">
                          <a:solidFill>
                            <a:schemeClr val="bg1"/>
                          </a:solidFill>
                          <a:effectLst/>
                          <a:latin typeface="Bahnschrift" panose="020B0502040204020203" pitchFamily="34" charset="0"/>
                          <a:ea typeface="+mn-ea"/>
                          <a:cs typeface="+mn-cs"/>
                        </a:rPr>
                        <a:t>, Stavros M. </a:t>
                      </a:r>
                      <a:r>
                        <a:rPr lang="en-US" sz="1400" b="1" i="0" kern="1200" dirty="0" err="1">
                          <a:solidFill>
                            <a:schemeClr val="bg1"/>
                          </a:solidFill>
                          <a:effectLst/>
                          <a:latin typeface="Bahnschrift" panose="020B0502040204020203" pitchFamily="34" charset="0"/>
                          <a:ea typeface="+mn-ea"/>
                          <a:cs typeface="+mn-cs"/>
                        </a:rPr>
                        <a:t>Panas</a:t>
                      </a:r>
                      <a:endParaRPr lang="en-US" sz="1400" b="1" i="0" kern="1200" dirty="0">
                        <a:solidFill>
                          <a:schemeClr val="bg1"/>
                        </a:solidFill>
                        <a:effectLst/>
                        <a:latin typeface="Bahnschrift" panose="020B0502040204020203" pitchFamily="34" charset="0"/>
                        <a:ea typeface="+mn-ea"/>
                        <a:cs typeface="+mn-cs"/>
                      </a:endParaRPr>
                    </a:p>
                    <a:p>
                      <a:endParaRPr lang="en-IN" sz="1400" b="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b="0" i="0" kern="1200" dirty="0">
                          <a:solidFill>
                            <a:schemeClr val="tx1"/>
                          </a:solidFill>
                          <a:effectLst/>
                          <a:latin typeface="Bahnschrift" panose="020B0502040204020203" pitchFamily="34" charset="0"/>
                          <a:ea typeface="+mn-ea"/>
                          <a:cs typeface="+mn-cs"/>
                        </a:rPr>
                        <a:t>The use of a </a:t>
                      </a:r>
                      <a:r>
                        <a:rPr lang="en-US" sz="1400" b="0" i="0" kern="1200" dirty="0">
                          <a:solidFill>
                            <a:schemeClr val="tx1"/>
                          </a:solidFill>
                          <a:effectLst/>
                          <a:latin typeface="Bahnschrift" panose="020B0502040204020203" pitchFamily="34" charset="0"/>
                          <a:ea typeface="+mn-ea"/>
                          <a:cs typeface="+mn-cs"/>
                          <a:hlinkClick r:id="rId2" tooltip="Learn more about wavelet transform from ScienceDirect's AI-generated Topic Pages"/>
                        </a:rPr>
                        <a:t>wavelet transform</a:t>
                      </a:r>
                      <a:r>
                        <a:rPr lang="en-US" sz="1400" b="0" i="0" kern="1200" dirty="0">
                          <a:solidFill>
                            <a:schemeClr val="tx1"/>
                          </a:solidFill>
                          <a:effectLst/>
                          <a:latin typeface="Bahnschrift" panose="020B0502040204020203" pitchFamily="34" charset="0"/>
                          <a:ea typeface="+mn-ea"/>
                          <a:cs typeface="+mn-cs"/>
                        </a:rPr>
                        <a:t> domain filtering technique as an adaptive de-noising tool, implemented in lung sounds analysis, is presented. The multiresolution representations of the signal, produced by wavelet transform, are used for signal structure extraction.</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Adaptive denoising, Wavelet Transform</a:t>
                      </a: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recorded</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Python</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Many methodologies uses wavelet based reduction</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2631257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501332A7-0262-D892-0237-FC9D47DC6BDF}"/>
              </a:ext>
            </a:extLst>
          </p:cNvPr>
          <p:cNvGraphicFramePr>
            <a:graphicFrameLocks noGrp="1"/>
          </p:cNvGraphicFramePr>
          <p:nvPr>
            <p:ph idx="1"/>
            <p:extLst>
              <p:ext uri="{D42A27DB-BD31-4B8C-83A1-F6EECF244321}">
                <p14:modId xmlns:p14="http://schemas.microsoft.com/office/powerpoint/2010/main" val="1980268174"/>
              </p:ext>
            </p:extLst>
          </p:nvPr>
        </p:nvGraphicFramePr>
        <p:xfrm>
          <a:off x="285135" y="1936953"/>
          <a:ext cx="11221065" cy="4375357"/>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US" sz="1400" b="1" i="0" kern="1200" dirty="0">
                          <a:solidFill>
                            <a:schemeClr val="bg1"/>
                          </a:solidFill>
                          <a:effectLst/>
                          <a:latin typeface="Bahnschrift" panose="020B0502040204020203" pitchFamily="34" charset="0"/>
                          <a:ea typeface="+mn-ea"/>
                          <a:cs typeface="+mn-cs"/>
                        </a:rPr>
                        <a:t>Mathematical modelling of lung function — what have we learnt and where to next? </a:t>
                      </a:r>
                    </a:p>
                    <a:p>
                      <a:r>
                        <a:rPr lang="en-US" sz="1400" b="1" i="0" kern="1200" dirty="0">
                          <a:solidFill>
                            <a:schemeClr val="bg1"/>
                          </a:solidFill>
                          <a:effectLst/>
                          <a:latin typeface="Bahnschrift" panose="020B0502040204020203" pitchFamily="34" charset="0"/>
                          <a:ea typeface="+mn-ea"/>
                          <a:cs typeface="+mn-cs"/>
                        </a:rPr>
                        <a:t>AK </a:t>
                      </a:r>
                      <a:r>
                        <a:rPr lang="en-US" sz="1400" b="1" i="0" kern="1200" dirty="0" err="1">
                          <a:solidFill>
                            <a:schemeClr val="bg1"/>
                          </a:solidFill>
                          <a:effectLst/>
                          <a:latin typeface="Bahnschrift" panose="020B0502040204020203" pitchFamily="34" charset="0"/>
                          <a:ea typeface="+mn-ea"/>
                          <a:cs typeface="+mn-cs"/>
                        </a:rPr>
                        <a:t>Rampadarath</a:t>
                      </a:r>
                      <a:r>
                        <a:rPr lang="en-US" sz="1400" b="1" i="0" kern="1200" dirty="0">
                          <a:solidFill>
                            <a:schemeClr val="bg1"/>
                          </a:solidFill>
                          <a:effectLst/>
                          <a:latin typeface="Bahnschrift" panose="020B0502040204020203" pitchFamily="34" charset="0"/>
                          <a:ea typeface="+mn-ea"/>
                          <a:cs typeface="+mn-cs"/>
                        </a:rPr>
                        <a:t> </a:t>
                      </a:r>
                      <a:r>
                        <a:rPr lang="en-US" sz="1400" b="1" i="0" kern="1200" baseline="30000" dirty="0">
                          <a:solidFill>
                            <a:schemeClr val="bg1"/>
                          </a:solidFill>
                          <a:effectLst/>
                          <a:latin typeface="Bahnschrift" panose="020B0502040204020203" pitchFamily="34" charset="0"/>
                          <a:ea typeface="+mn-ea"/>
                          <a:cs typeface="+mn-cs"/>
                        </a:rPr>
                        <a:t>1</a:t>
                      </a:r>
                      <a:r>
                        <a:rPr lang="en-US" sz="1400" b="1" i="0" kern="1200" dirty="0">
                          <a:solidFill>
                            <a:schemeClr val="bg1"/>
                          </a:solidFill>
                          <a:effectLst/>
                          <a:latin typeface="Bahnschrift" panose="020B0502040204020203" pitchFamily="34" charset="0"/>
                          <a:ea typeface="+mn-ea"/>
                          <a:cs typeface="+mn-cs"/>
                        </a:rPr>
                        <a:t>, GM Donovan </a:t>
                      </a:r>
                    </a:p>
                    <a:p>
                      <a:endParaRPr lang="en-IN" sz="1400" b="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US" sz="1400" b="0" i="0" kern="1200" dirty="0">
                          <a:solidFill>
                            <a:schemeClr val="tx1"/>
                          </a:solidFill>
                          <a:effectLst/>
                          <a:latin typeface="Bahnschrift" panose="020B0502040204020203" pitchFamily="34" charset="0"/>
                          <a:ea typeface="+mn-ea"/>
                          <a:cs typeface="+mn-cs"/>
                        </a:rPr>
                        <a:t>Potential development of patient-specific diagnosis and treatment of respiratory illnesses. For example, the AIRPROM project developed patient-specific, multiscale computational models specifically for asthma and COPD</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AIRPROM based mathematical </a:t>
                      </a:r>
                      <a:r>
                        <a:rPr lang="en-IN" sz="1400" dirty="0" err="1">
                          <a:latin typeface="Bahnschrift" panose="020B0502040204020203" pitchFamily="34" charset="0"/>
                        </a:rPr>
                        <a:t>modeling</a:t>
                      </a:r>
                      <a:endParaRPr lang="en-IN" sz="1400" dirty="0">
                        <a:latin typeface="Bahnschrift" panose="020B0502040204020203" pitchFamily="34" charset="0"/>
                      </a:endParaRP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recorded</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MATLAB</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Mathematical Modelling of Heart Sound Signal</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544275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F5327-7EFC-975C-1413-211EBB294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949B1-9EA2-C435-2974-D6522B269E91}"/>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LITERATURE REVIEW</a:t>
            </a:r>
          </a:p>
        </p:txBody>
      </p:sp>
      <p:graphicFrame>
        <p:nvGraphicFramePr>
          <p:cNvPr id="4" name="Table 4">
            <a:extLst>
              <a:ext uri="{FF2B5EF4-FFF2-40B4-BE49-F238E27FC236}">
                <a16:creationId xmlns:a16="http://schemas.microsoft.com/office/drawing/2014/main" id="{2029F2E4-17C8-E58B-A2E5-881149097AFA}"/>
              </a:ext>
            </a:extLst>
          </p:cNvPr>
          <p:cNvGraphicFramePr>
            <a:graphicFrameLocks noGrp="1"/>
          </p:cNvGraphicFramePr>
          <p:nvPr>
            <p:ph idx="1"/>
            <p:extLst>
              <p:ext uri="{D42A27DB-BD31-4B8C-83A1-F6EECF244321}">
                <p14:modId xmlns:p14="http://schemas.microsoft.com/office/powerpoint/2010/main" val="1232491082"/>
              </p:ext>
            </p:extLst>
          </p:nvPr>
        </p:nvGraphicFramePr>
        <p:xfrm>
          <a:off x="285135" y="1936953"/>
          <a:ext cx="11221065" cy="4769674"/>
        </p:xfrm>
        <a:graphic>
          <a:graphicData uri="http://schemas.openxmlformats.org/drawingml/2006/table">
            <a:tbl>
              <a:tblPr firstRow="1" bandRow="1">
                <a:tableStyleId>{17292A2E-F333-43FB-9621-5CBBE7FDCDCB}</a:tableStyleId>
              </a:tblPr>
              <a:tblGrid>
                <a:gridCol w="3116826">
                  <a:extLst>
                    <a:ext uri="{9D8B030D-6E8A-4147-A177-3AD203B41FA5}">
                      <a16:colId xmlns:a16="http://schemas.microsoft.com/office/drawing/2014/main" val="3699391585"/>
                    </a:ext>
                  </a:extLst>
                </a:gridCol>
                <a:gridCol w="8104239">
                  <a:extLst>
                    <a:ext uri="{9D8B030D-6E8A-4147-A177-3AD203B41FA5}">
                      <a16:colId xmlns:a16="http://schemas.microsoft.com/office/drawing/2014/main" val="861946822"/>
                    </a:ext>
                  </a:extLst>
                </a:gridCol>
              </a:tblGrid>
              <a:tr h="982187">
                <a:tc>
                  <a:txBody>
                    <a:bodyPr/>
                    <a:lstStyle/>
                    <a:p>
                      <a:r>
                        <a:rPr lang="en-IN" sz="1400" dirty="0"/>
                        <a:t>JOURNAL DETAILS</a:t>
                      </a:r>
                    </a:p>
                  </a:txBody>
                  <a:tcPr/>
                </a:tc>
                <a:tc>
                  <a:txBody>
                    <a:bodyPr/>
                    <a:lstStyle/>
                    <a:p>
                      <a:r>
                        <a:rPr lang="en-IN" sz="1400" b="1" i="0" kern="1200" dirty="0">
                          <a:solidFill>
                            <a:schemeClr val="bg1"/>
                          </a:solidFill>
                          <a:effectLst/>
                          <a:latin typeface="Bahnschrift" panose="020B0502040204020203" pitchFamily="34" charset="0"/>
                          <a:ea typeface="+mn-ea"/>
                          <a:cs typeface="+mn-cs"/>
                        </a:rPr>
                        <a:t>Cardiovascular Disease Recognition Based on Heartbeat Segmentation and Selection Process</a:t>
                      </a:r>
                    </a:p>
                    <a:p>
                      <a:r>
                        <a:rPr lang="en-IN" sz="1400" b="1" i="0" u="none" kern="1200" dirty="0" err="1">
                          <a:solidFill>
                            <a:schemeClr val="bg1"/>
                          </a:solidFill>
                          <a:effectLst/>
                          <a:latin typeface="Bahnschrift" panose="020B0502040204020203" pitchFamily="34" charset="0"/>
                          <a:ea typeface="+mn-ea"/>
                          <a:cs typeface="+mn-cs"/>
                          <a:hlinkClick r:id="rId2">
                            <a:extLst>
                              <a:ext uri="{A12FA001-AC4F-418D-AE19-62706E023703}">
                                <ahyp:hlinkClr xmlns:ahyp="http://schemas.microsoft.com/office/drawing/2018/hyperlinkcolor" val="tx"/>
                              </a:ext>
                            </a:extLst>
                          </a:hlinkClick>
                        </a:rPr>
                        <a:t>Mehrez</a:t>
                      </a:r>
                      <a:r>
                        <a:rPr lang="en-IN" sz="1400" b="1" i="0" u="none" kern="1200" dirty="0">
                          <a:solidFill>
                            <a:schemeClr val="bg1"/>
                          </a:solidFill>
                          <a:effectLst/>
                          <a:latin typeface="Bahnschrift" panose="020B0502040204020203" pitchFamily="34" charset="0"/>
                          <a:ea typeface="+mn-ea"/>
                          <a:cs typeface="+mn-cs"/>
                          <a:hlinkClick r:id="rId2">
                            <a:extLst>
                              <a:ext uri="{A12FA001-AC4F-418D-AE19-62706E023703}">
                                <ahyp:hlinkClr xmlns:ahyp="http://schemas.microsoft.com/office/drawing/2018/hyperlinkcolor" val="tx"/>
                              </a:ext>
                            </a:extLst>
                          </a:hlinkClick>
                        </a:rPr>
                        <a:t> </a:t>
                      </a:r>
                      <a:r>
                        <a:rPr lang="en-IN" sz="1400" b="1" i="0" u="none" kern="1200" dirty="0" err="1">
                          <a:solidFill>
                            <a:schemeClr val="bg1"/>
                          </a:solidFill>
                          <a:effectLst/>
                          <a:latin typeface="Bahnschrift" panose="020B0502040204020203" pitchFamily="34" charset="0"/>
                          <a:ea typeface="+mn-ea"/>
                          <a:cs typeface="+mn-cs"/>
                          <a:hlinkClick r:id="rId2">
                            <a:extLst>
                              <a:ext uri="{A12FA001-AC4F-418D-AE19-62706E023703}">
                                <ahyp:hlinkClr xmlns:ahyp="http://schemas.microsoft.com/office/drawing/2018/hyperlinkcolor" val="tx"/>
                              </a:ext>
                            </a:extLst>
                          </a:hlinkClick>
                        </a:rPr>
                        <a:t>Boulares</a:t>
                      </a:r>
                      <a:r>
                        <a:rPr lang="en-IN" sz="1400" b="1" i="0" u="none" kern="1200" dirty="0">
                          <a:solidFill>
                            <a:schemeClr val="bg1"/>
                          </a:solidFill>
                          <a:effectLst/>
                          <a:latin typeface="Bahnschrift" panose="020B0502040204020203" pitchFamily="34" charset="0"/>
                          <a:ea typeface="+mn-ea"/>
                          <a:cs typeface="+mn-cs"/>
                        </a:rPr>
                        <a:t>, </a:t>
                      </a:r>
                      <a:r>
                        <a:rPr lang="en-IN" sz="1400" b="1" i="0" u="none" kern="1200" dirty="0">
                          <a:solidFill>
                            <a:schemeClr val="bg1"/>
                          </a:solidFill>
                          <a:effectLst/>
                          <a:latin typeface="Bahnschrift" panose="020B0502040204020203" pitchFamily="34" charset="0"/>
                          <a:ea typeface="+mn-ea"/>
                          <a:cs typeface="+mn-cs"/>
                          <a:hlinkClick r:id="rId3">
                            <a:extLst>
                              <a:ext uri="{A12FA001-AC4F-418D-AE19-62706E023703}">
                                <ahyp:hlinkClr xmlns:ahyp="http://schemas.microsoft.com/office/drawing/2018/hyperlinkcolor" val="tx"/>
                              </a:ext>
                            </a:extLst>
                          </a:hlinkClick>
                        </a:rPr>
                        <a:t>Reem Alotaibi</a:t>
                      </a:r>
                      <a:r>
                        <a:rPr lang="en-IN" sz="1400" b="1" i="0" u="none" kern="1200" dirty="0">
                          <a:solidFill>
                            <a:schemeClr val="bg1"/>
                          </a:solidFill>
                          <a:effectLst/>
                          <a:latin typeface="Bahnschrift" panose="020B0502040204020203" pitchFamily="34" charset="0"/>
                          <a:ea typeface="+mn-ea"/>
                          <a:cs typeface="+mn-cs"/>
                        </a:rPr>
                        <a:t>, </a:t>
                      </a:r>
                      <a:r>
                        <a:rPr lang="en-IN" sz="1400" b="1" i="0" u="none" kern="1200" dirty="0">
                          <a:solidFill>
                            <a:schemeClr val="bg1"/>
                          </a:solidFill>
                          <a:effectLst/>
                          <a:latin typeface="Bahnschrift" panose="020B0502040204020203" pitchFamily="34" charset="0"/>
                          <a:ea typeface="+mn-ea"/>
                          <a:cs typeface="+mn-cs"/>
                          <a:hlinkClick r:id="rId4">
                            <a:extLst>
                              <a:ext uri="{A12FA001-AC4F-418D-AE19-62706E023703}">
                                <ahyp:hlinkClr xmlns:ahyp="http://schemas.microsoft.com/office/drawing/2018/hyperlinkcolor" val="tx"/>
                              </a:ext>
                            </a:extLst>
                          </a:hlinkClick>
                        </a:rPr>
                        <a:t>Amal </a:t>
                      </a:r>
                      <a:r>
                        <a:rPr lang="en-IN" sz="1400" b="1" i="0" u="none" kern="1200" dirty="0" err="1">
                          <a:solidFill>
                            <a:schemeClr val="bg1"/>
                          </a:solidFill>
                          <a:effectLst/>
                          <a:latin typeface="Bahnschrift" panose="020B0502040204020203" pitchFamily="34" charset="0"/>
                          <a:ea typeface="+mn-ea"/>
                          <a:cs typeface="+mn-cs"/>
                          <a:hlinkClick r:id="rId4">
                            <a:extLst>
                              <a:ext uri="{A12FA001-AC4F-418D-AE19-62706E023703}">
                                <ahyp:hlinkClr xmlns:ahyp="http://schemas.microsoft.com/office/drawing/2018/hyperlinkcolor" val="tx"/>
                              </a:ext>
                            </a:extLst>
                          </a:hlinkClick>
                        </a:rPr>
                        <a:t>AlMansour</a:t>
                      </a:r>
                      <a:r>
                        <a:rPr lang="en-IN" sz="1400" b="1" i="0" u="none" kern="1200" dirty="0" err="1">
                          <a:solidFill>
                            <a:schemeClr val="bg1"/>
                          </a:solidFill>
                          <a:effectLst/>
                          <a:latin typeface="Bahnschrift" panose="020B0502040204020203" pitchFamily="34" charset="0"/>
                          <a:ea typeface="+mn-ea"/>
                          <a:cs typeface="+mn-cs"/>
                        </a:rPr>
                        <a:t>,and</a:t>
                      </a:r>
                      <a:r>
                        <a:rPr lang="en-IN" sz="1400" b="1" i="0" u="none" kern="1200" dirty="0">
                          <a:solidFill>
                            <a:schemeClr val="bg1"/>
                          </a:solidFill>
                          <a:effectLst/>
                          <a:latin typeface="Bahnschrift" panose="020B0502040204020203" pitchFamily="34" charset="0"/>
                          <a:ea typeface="+mn-ea"/>
                          <a:cs typeface="+mn-cs"/>
                        </a:rPr>
                        <a:t> </a:t>
                      </a:r>
                      <a:r>
                        <a:rPr lang="en-IN" sz="1400" b="1" i="0" u="none" kern="1200" dirty="0">
                          <a:solidFill>
                            <a:schemeClr val="bg1"/>
                          </a:solidFill>
                          <a:effectLst/>
                          <a:latin typeface="Bahnschrift" panose="020B0502040204020203" pitchFamily="34" charset="0"/>
                          <a:ea typeface="+mn-ea"/>
                          <a:cs typeface="+mn-cs"/>
                          <a:hlinkClick r:id="rId5">
                            <a:extLst>
                              <a:ext uri="{A12FA001-AC4F-418D-AE19-62706E023703}">
                                <ahyp:hlinkClr xmlns:ahyp="http://schemas.microsoft.com/office/drawing/2018/hyperlinkcolor" val="tx"/>
                              </a:ext>
                            </a:extLst>
                          </a:hlinkClick>
                        </a:rPr>
                        <a:t>Ahmed </a:t>
                      </a:r>
                      <a:r>
                        <a:rPr lang="en-IN" sz="1400" b="1" i="0" u="none" kern="1200" dirty="0" err="1">
                          <a:solidFill>
                            <a:schemeClr val="bg1"/>
                          </a:solidFill>
                          <a:effectLst/>
                          <a:latin typeface="Bahnschrift" panose="020B0502040204020203" pitchFamily="34" charset="0"/>
                          <a:ea typeface="+mn-ea"/>
                          <a:cs typeface="+mn-cs"/>
                          <a:hlinkClick r:id="rId5">
                            <a:extLst>
                              <a:ext uri="{A12FA001-AC4F-418D-AE19-62706E023703}">
                                <ahyp:hlinkClr xmlns:ahyp="http://schemas.microsoft.com/office/drawing/2018/hyperlinkcolor" val="tx"/>
                              </a:ext>
                            </a:extLst>
                          </a:hlinkClick>
                        </a:rPr>
                        <a:t>Barnawi</a:t>
                      </a:r>
                      <a:endParaRPr lang="en-IN" sz="1400" b="1" i="0" u="none" kern="1200" dirty="0">
                        <a:solidFill>
                          <a:schemeClr val="bg1"/>
                        </a:solidFill>
                        <a:effectLst/>
                        <a:latin typeface="Bahnschrift" panose="020B0502040204020203" pitchFamily="34" charset="0"/>
                        <a:ea typeface="+mn-ea"/>
                        <a:cs typeface="+mn-cs"/>
                      </a:endParaRPr>
                    </a:p>
                    <a:p>
                      <a:r>
                        <a:rPr lang="en-IN" sz="1400" b="1" i="0" u="none" kern="1200" dirty="0">
                          <a:solidFill>
                            <a:schemeClr val="bg1"/>
                          </a:solidFill>
                          <a:effectLst/>
                          <a:latin typeface="Bahnschrift" panose="020B0502040204020203" pitchFamily="34" charset="0"/>
                          <a:ea typeface="+mn-ea"/>
                          <a:cs typeface="+mn-cs"/>
                        </a:rPr>
                        <a:t>Published in </a:t>
                      </a:r>
                      <a:r>
                        <a:rPr lang="en-US" sz="1400" b="1" i="0" u="sng" kern="1200" dirty="0">
                          <a:solidFill>
                            <a:schemeClr val="bg1"/>
                          </a:solidFill>
                          <a:effectLst/>
                          <a:latin typeface="Bahnschrift" panose="020B0502040204020203" pitchFamily="34" charset="0"/>
                          <a:ea typeface="+mn-ea"/>
                          <a:cs typeface="+mn-cs"/>
                          <a:hlinkClick r:id="rId6">
                            <a:extLst>
                              <a:ext uri="{A12FA001-AC4F-418D-AE19-62706E023703}">
                                <ahyp:hlinkClr xmlns:ahyp="http://schemas.microsoft.com/office/drawing/2018/hyperlinkcolor" val="tx"/>
                              </a:ext>
                            </a:extLst>
                          </a:hlinkClick>
                        </a:rPr>
                        <a:t>Int J Environ Res Public Health.</a:t>
                      </a:r>
                      <a:r>
                        <a:rPr lang="en-US" sz="1400" b="1" i="0" kern="1200" dirty="0">
                          <a:solidFill>
                            <a:schemeClr val="bg1"/>
                          </a:solidFill>
                          <a:effectLst/>
                          <a:latin typeface="Bahnschrift" panose="020B0502040204020203" pitchFamily="34" charset="0"/>
                          <a:ea typeface="+mn-ea"/>
                          <a:cs typeface="+mn-cs"/>
                        </a:rPr>
                        <a:t> 2021 Oct; 18(20): 10952.</a:t>
                      </a:r>
                      <a:endParaRPr lang="en-IN" sz="1400" b="1" i="0" u="none" kern="1200" dirty="0">
                        <a:solidFill>
                          <a:schemeClr val="bg1"/>
                        </a:solidFill>
                        <a:effectLst/>
                        <a:latin typeface="Bahnschrift" panose="020B0502040204020203" pitchFamily="34" charset="0"/>
                        <a:ea typeface="+mn-ea"/>
                        <a:cs typeface="+mn-cs"/>
                      </a:endParaRPr>
                    </a:p>
                    <a:p>
                      <a:endParaRPr lang="en-IN" sz="1400" b="0" dirty="0">
                        <a:latin typeface="Bahnschrift" panose="020B0502040204020203" pitchFamily="34" charset="0"/>
                      </a:endParaRPr>
                    </a:p>
                  </a:txBody>
                  <a:tcPr/>
                </a:tc>
                <a:extLst>
                  <a:ext uri="{0D108BD9-81ED-4DB2-BD59-A6C34878D82A}">
                    <a16:rowId xmlns:a16="http://schemas.microsoft.com/office/drawing/2014/main" val="3322245563"/>
                  </a:ext>
                </a:extLst>
              </a:tr>
              <a:tr h="763923">
                <a:tc>
                  <a:txBody>
                    <a:bodyPr/>
                    <a:lstStyle/>
                    <a:p>
                      <a:r>
                        <a:rPr lang="en-IN" sz="1400" dirty="0">
                          <a:latin typeface="Bahnschrift" panose="020B0502040204020203" pitchFamily="34" charset="0"/>
                        </a:rPr>
                        <a:t>OBJECTIVE</a:t>
                      </a:r>
                    </a:p>
                  </a:txBody>
                  <a:tcPr/>
                </a:tc>
                <a:tc>
                  <a:txBody>
                    <a:bodyPr/>
                    <a:lstStyle/>
                    <a:p>
                      <a:r>
                        <a:rPr lang="en-IN" sz="1400" b="0" i="0" kern="1200" dirty="0">
                          <a:solidFill>
                            <a:schemeClr val="tx1"/>
                          </a:solidFill>
                          <a:effectLst/>
                          <a:latin typeface="Bahnschrift" panose="020B0502040204020203" pitchFamily="34" charset="0"/>
                          <a:ea typeface="+mn-ea"/>
                          <a:cs typeface="+mn-cs"/>
                        </a:rPr>
                        <a:t>IIR filter for automatic noise deletion; an automatic powerful Heart Cycle Segmentation (HCS) method based on envelop detection using Daubechies wavelet decomposition; a new HCS segment selection approach based on PCG feature clustering relaying on Gaussian mixture model (GMM), and an extensive experimental study based on 17 CNN pretrained and fine-tuned models for the automatic PCG disease classification.</a:t>
                      </a:r>
                      <a:endParaRPr lang="en-IN" sz="1400" dirty="0">
                        <a:latin typeface="Bahnschrift" panose="020B0502040204020203" pitchFamily="34" charset="0"/>
                      </a:endParaRPr>
                    </a:p>
                  </a:txBody>
                  <a:tcPr/>
                </a:tc>
                <a:extLst>
                  <a:ext uri="{0D108BD9-81ED-4DB2-BD59-A6C34878D82A}">
                    <a16:rowId xmlns:a16="http://schemas.microsoft.com/office/drawing/2014/main" val="434348492"/>
                  </a:ext>
                </a:extLst>
              </a:tr>
              <a:tr h="681022">
                <a:tc>
                  <a:txBody>
                    <a:bodyPr/>
                    <a:lstStyle/>
                    <a:p>
                      <a:r>
                        <a:rPr lang="en-IN" sz="1400" dirty="0">
                          <a:latin typeface="Bahnschrift" panose="020B0502040204020203" pitchFamily="34" charset="0"/>
                        </a:rPr>
                        <a:t>METHODOLOGY USED</a:t>
                      </a:r>
                    </a:p>
                  </a:txBody>
                  <a:tcPr/>
                </a:tc>
                <a:tc>
                  <a:txBody>
                    <a:bodyPr/>
                    <a:lstStyle/>
                    <a:p>
                      <a:r>
                        <a:rPr lang="en-IN" sz="1400" dirty="0">
                          <a:latin typeface="Bahnschrift" panose="020B0502040204020203" pitchFamily="34" charset="0"/>
                        </a:rPr>
                        <a:t>MFCC and Convolutional Neural Network</a:t>
                      </a:r>
                    </a:p>
                  </a:txBody>
                  <a:tcPr/>
                </a:tc>
                <a:extLst>
                  <a:ext uri="{0D108BD9-81ED-4DB2-BD59-A6C34878D82A}">
                    <a16:rowId xmlns:a16="http://schemas.microsoft.com/office/drawing/2014/main" val="1290087414"/>
                  </a:ext>
                </a:extLst>
              </a:tr>
              <a:tr h="439593">
                <a:tc>
                  <a:txBody>
                    <a:bodyPr/>
                    <a:lstStyle/>
                    <a:p>
                      <a:r>
                        <a:rPr lang="en-IN" sz="1400" dirty="0">
                          <a:latin typeface="Bahnschrift" panose="020B0502040204020203" pitchFamily="34" charset="0"/>
                        </a:rPr>
                        <a:t>DATASET/INPUT DETAILS</a:t>
                      </a:r>
                    </a:p>
                  </a:txBody>
                  <a:tcPr/>
                </a:tc>
                <a:tc>
                  <a:txBody>
                    <a:bodyPr/>
                    <a:lstStyle/>
                    <a:p>
                      <a:r>
                        <a:rPr lang="en-IN" sz="1400" dirty="0">
                          <a:latin typeface="Bahnschrift" panose="020B0502040204020203" pitchFamily="34" charset="0"/>
                        </a:rPr>
                        <a:t>Heart and lung sound recorded</a:t>
                      </a:r>
                    </a:p>
                  </a:txBody>
                  <a:tcPr/>
                </a:tc>
                <a:extLst>
                  <a:ext uri="{0D108BD9-81ED-4DB2-BD59-A6C34878D82A}">
                    <a16:rowId xmlns:a16="http://schemas.microsoft.com/office/drawing/2014/main" val="1948875613"/>
                  </a:ext>
                </a:extLst>
              </a:tr>
              <a:tr h="758748">
                <a:tc>
                  <a:txBody>
                    <a:bodyPr/>
                    <a:lstStyle/>
                    <a:p>
                      <a:r>
                        <a:rPr lang="en-IN" sz="1400" dirty="0">
                          <a:latin typeface="Bahnschrift" panose="020B0502040204020203" pitchFamily="34" charset="0"/>
                        </a:rPr>
                        <a:t>HARDWARE/SOFTWARE DETAILS USED IN JOURNAL</a:t>
                      </a:r>
                    </a:p>
                  </a:txBody>
                  <a:tcPr/>
                </a:tc>
                <a:tc>
                  <a:txBody>
                    <a:bodyPr/>
                    <a:lstStyle/>
                    <a:p>
                      <a:r>
                        <a:rPr lang="en-IN" sz="1400" dirty="0">
                          <a:latin typeface="Bahnschrift" panose="020B0502040204020203" pitchFamily="34" charset="0"/>
                        </a:rPr>
                        <a:t>Python</a:t>
                      </a:r>
                    </a:p>
                  </a:txBody>
                  <a:tcPr/>
                </a:tc>
                <a:extLst>
                  <a:ext uri="{0D108BD9-81ED-4DB2-BD59-A6C34878D82A}">
                    <a16:rowId xmlns:a16="http://schemas.microsoft.com/office/drawing/2014/main" val="198736324"/>
                  </a:ext>
                </a:extLst>
              </a:tr>
              <a:tr h="749884">
                <a:tc>
                  <a:txBody>
                    <a:bodyPr/>
                    <a:lstStyle/>
                    <a:p>
                      <a:r>
                        <a:rPr lang="en-IN" sz="1400" dirty="0">
                          <a:latin typeface="Bahnschrift" panose="020B0502040204020203" pitchFamily="34" charset="0"/>
                        </a:rPr>
                        <a:t>ANY COMPARISONS WITH EXISTING METHODS, </a:t>
                      </a:r>
                    </a:p>
                  </a:txBody>
                  <a:tcPr/>
                </a:tc>
                <a:tc>
                  <a:txBody>
                    <a:bodyPr/>
                    <a:lstStyle/>
                    <a:p>
                      <a:r>
                        <a:rPr lang="en-IN" sz="1400" dirty="0">
                          <a:latin typeface="Bahnschrift" panose="020B0502040204020203" pitchFamily="34" charset="0"/>
                        </a:rPr>
                        <a:t>Autoencoder based deep learning approach is similar to this approach</a:t>
                      </a:r>
                    </a:p>
                  </a:txBody>
                  <a:tcPr/>
                </a:tc>
                <a:extLst>
                  <a:ext uri="{0D108BD9-81ED-4DB2-BD59-A6C34878D82A}">
                    <a16:rowId xmlns:a16="http://schemas.microsoft.com/office/drawing/2014/main" val="2151667323"/>
                  </a:ext>
                </a:extLst>
              </a:tr>
            </a:tbl>
          </a:graphicData>
        </a:graphic>
      </p:graphicFrame>
    </p:spTree>
    <p:extLst>
      <p:ext uri="{BB962C8B-B14F-4D97-AF65-F5344CB8AC3E}">
        <p14:creationId xmlns:p14="http://schemas.microsoft.com/office/powerpoint/2010/main" val="1328934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ALGORITHM</a:t>
            </a:r>
          </a:p>
        </p:txBody>
      </p:sp>
      <p:pic>
        <p:nvPicPr>
          <p:cNvPr id="1026" name="Picture 2">
            <a:extLst>
              <a:ext uri="{FF2B5EF4-FFF2-40B4-BE49-F238E27FC236}">
                <a16:creationId xmlns:a16="http://schemas.microsoft.com/office/drawing/2014/main" id="{18A4E577-F6B8-8F4B-0705-3839EB064F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0142" y="2099683"/>
            <a:ext cx="8271791" cy="4340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370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F6D4C-ECCF-EA5E-2D86-7B3D5F237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AE174-0590-15E0-979F-27D288BF83BB}"/>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RESEARCH GAP</a:t>
            </a:r>
          </a:p>
        </p:txBody>
      </p:sp>
      <p:sp>
        <p:nvSpPr>
          <p:cNvPr id="3" name="Content Placeholder 2">
            <a:extLst>
              <a:ext uri="{FF2B5EF4-FFF2-40B4-BE49-F238E27FC236}">
                <a16:creationId xmlns:a16="http://schemas.microsoft.com/office/drawing/2014/main" id="{9642E570-2377-D164-1CE2-330CBAEDE65B}"/>
              </a:ext>
            </a:extLst>
          </p:cNvPr>
          <p:cNvSpPr>
            <a:spLocks noGrp="1"/>
          </p:cNvSpPr>
          <p:nvPr>
            <p:ph idx="1"/>
          </p:nvPr>
        </p:nvSpPr>
        <p:spPr/>
        <p:txBody>
          <a:bodyPr/>
          <a:lstStyle/>
          <a:p>
            <a:r>
              <a:rPr lang="en-IN" dirty="0">
                <a:latin typeface="Bahnschrift" panose="020B0502040204020203" pitchFamily="34" charset="0"/>
              </a:rPr>
              <a:t>Still there is not a proper hardware tool to separate heart sound signal from lung sound signal.</a:t>
            </a:r>
          </a:p>
          <a:p>
            <a:endParaRPr lang="en-IN" dirty="0">
              <a:latin typeface="Bahnschrift" panose="020B0502040204020203" pitchFamily="34" charset="0"/>
            </a:endParaRPr>
          </a:p>
          <a:p>
            <a:r>
              <a:rPr lang="en-IN" dirty="0">
                <a:latin typeface="Bahnschrift" panose="020B0502040204020203" pitchFamily="34" charset="0"/>
              </a:rPr>
              <a:t>The efficiency is still questionable as their time and frequency components overlap with each other along with noise factors such as AWGN, Air noise present down stomach and excessive expiration and inspiration</a:t>
            </a:r>
          </a:p>
        </p:txBody>
      </p:sp>
    </p:spTree>
    <p:extLst>
      <p:ext uri="{BB962C8B-B14F-4D97-AF65-F5344CB8AC3E}">
        <p14:creationId xmlns:p14="http://schemas.microsoft.com/office/powerpoint/2010/main" val="2512374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HEART SOUND SIGNAL ANALYSIS</a:t>
            </a:r>
          </a:p>
        </p:txBody>
      </p:sp>
      <p:sp>
        <p:nvSpPr>
          <p:cNvPr id="3" name="Content Placeholder 2">
            <a:extLst>
              <a:ext uri="{FF2B5EF4-FFF2-40B4-BE49-F238E27FC236}">
                <a16:creationId xmlns:a16="http://schemas.microsoft.com/office/drawing/2014/main" id="{99CB7AF5-1762-AC52-6583-1DD97ED4B6D3}"/>
              </a:ext>
            </a:extLst>
          </p:cNvPr>
          <p:cNvSpPr>
            <a:spLocks noGrp="1"/>
          </p:cNvSpPr>
          <p:nvPr>
            <p:ph idx="1"/>
          </p:nvPr>
        </p:nvSpPr>
        <p:spPr/>
        <p:txBody>
          <a:bodyPr>
            <a:normAutofit/>
          </a:bodyPr>
          <a:lstStyle/>
          <a:p>
            <a:r>
              <a:rPr lang="en-IN" sz="2000" dirty="0">
                <a:latin typeface="Bahnschrift" panose="020B0502040204020203" pitchFamily="34" charset="0"/>
              </a:rPr>
              <a:t>S1 Sound – Closing of Mitral and Tricuspid Valve in Systole (20-60Hz)</a:t>
            </a:r>
          </a:p>
          <a:p>
            <a:endParaRPr lang="en-IN" sz="2000" dirty="0">
              <a:latin typeface="Bahnschrift" panose="020B0502040204020203" pitchFamily="34" charset="0"/>
            </a:endParaRPr>
          </a:p>
          <a:p>
            <a:r>
              <a:rPr lang="en-IN" sz="2000" dirty="0">
                <a:latin typeface="Bahnschrift" panose="020B0502040204020203" pitchFamily="34" charset="0"/>
              </a:rPr>
              <a:t>S2 Sound – Closing of Aortic and Pulmonic Valve in Diastole(80 – 200Hz)</a:t>
            </a:r>
          </a:p>
          <a:p>
            <a:endParaRPr lang="en-IN" sz="2000" dirty="0">
              <a:latin typeface="Bahnschrift" panose="020B0502040204020203" pitchFamily="34" charset="0"/>
            </a:endParaRPr>
          </a:p>
          <a:p>
            <a:r>
              <a:rPr lang="en-IN" sz="2000" dirty="0">
                <a:latin typeface="Bahnschrift" panose="020B0502040204020203" pitchFamily="34" charset="0"/>
              </a:rPr>
              <a:t>S3 Sound – Diastolic Murmurs (AR, PR, TS, MS) (&lt;40Hz)</a:t>
            </a:r>
          </a:p>
          <a:p>
            <a:endParaRPr lang="en-IN" sz="2000" dirty="0">
              <a:latin typeface="Bahnschrift" panose="020B0502040204020203" pitchFamily="34" charset="0"/>
            </a:endParaRPr>
          </a:p>
          <a:p>
            <a:r>
              <a:rPr lang="en-IN" sz="2000" dirty="0">
                <a:latin typeface="Bahnschrift" panose="020B0502040204020203" pitchFamily="34" charset="0"/>
              </a:rPr>
              <a:t>S4 Sound – Diastolic Murmurs(20-40 Hz)</a:t>
            </a:r>
          </a:p>
          <a:p>
            <a:endParaRPr lang="en-IN" sz="2000" dirty="0">
              <a:latin typeface="Bahnschrift" panose="020B0502040204020203" pitchFamily="34" charset="0"/>
            </a:endParaRPr>
          </a:p>
          <a:p>
            <a:r>
              <a:rPr lang="en-IN" sz="2000" dirty="0">
                <a:latin typeface="Bahnschrift" panose="020B0502040204020203" pitchFamily="34" charset="0"/>
              </a:rPr>
              <a:t>S5 Sound – Extra Sounds</a:t>
            </a:r>
          </a:p>
        </p:txBody>
      </p:sp>
    </p:spTree>
    <p:extLst>
      <p:ext uri="{BB962C8B-B14F-4D97-AF65-F5344CB8AC3E}">
        <p14:creationId xmlns:p14="http://schemas.microsoft.com/office/powerpoint/2010/main" val="2124112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LUNG SOUND SIGNAL ANALYSIS</a:t>
            </a:r>
          </a:p>
        </p:txBody>
      </p:sp>
      <p:sp>
        <p:nvSpPr>
          <p:cNvPr id="3" name="Content Placeholder 2">
            <a:extLst>
              <a:ext uri="{FF2B5EF4-FFF2-40B4-BE49-F238E27FC236}">
                <a16:creationId xmlns:a16="http://schemas.microsoft.com/office/drawing/2014/main" id="{99CB7AF5-1762-AC52-6583-1DD97ED4B6D3}"/>
              </a:ext>
            </a:extLst>
          </p:cNvPr>
          <p:cNvSpPr>
            <a:spLocks noGrp="1"/>
          </p:cNvSpPr>
          <p:nvPr>
            <p:ph idx="1"/>
          </p:nvPr>
        </p:nvSpPr>
        <p:spPr/>
        <p:txBody>
          <a:bodyPr>
            <a:normAutofit/>
          </a:bodyPr>
          <a:lstStyle/>
          <a:p>
            <a:r>
              <a:rPr lang="en-IN" dirty="0">
                <a:latin typeface="Bahnschrift" panose="020B0502040204020203" pitchFamily="34" charset="0"/>
              </a:rPr>
              <a:t>Vesicular Sound – (&lt;800 Hz and peak at 150 Hz)</a:t>
            </a:r>
          </a:p>
          <a:p>
            <a:endParaRPr lang="en-IN" dirty="0">
              <a:latin typeface="Bahnschrift" panose="020B0502040204020203" pitchFamily="34" charset="0"/>
            </a:endParaRPr>
          </a:p>
          <a:p>
            <a:r>
              <a:rPr lang="en-IN" dirty="0">
                <a:latin typeface="Bahnschrift" panose="020B0502040204020203" pitchFamily="34" charset="0"/>
              </a:rPr>
              <a:t>Bronchial Sound – (150 -3000 Hz and Peak at 500 Hz)</a:t>
            </a:r>
          </a:p>
          <a:p>
            <a:endParaRPr lang="en-IN" dirty="0">
              <a:latin typeface="Bahnschrift" panose="020B0502040204020203" pitchFamily="34" charset="0"/>
            </a:endParaRPr>
          </a:p>
          <a:p>
            <a:r>
              <a:rPr lang="en-IN" dirty="0">
                <a:latin typeface="Bahnschrift" panose="020B0502040204020203" pitchFamily="34" charset="0"/>
              </a:rPr>
              <a:t>Crackles Sound Fine – (400 – 2000 Hz)</a:t>
            </a:r>
          </a:p>
          <a:p>
            <a:endParaRPr lang="en-IN" dirty="0">
              <a:latin typeface="Bahnschrift" panose="020B0502040204020203" pitchFamily="34" charset="0"/>
            </a:endParaRPr>
          </a:p>
          <a:p>
            <a:r>
              <a:rPr lang="en-IN" dirty="0">
                <a:latin typeface="Bahnschrift" panose="020B0502040204020203" pitchFamily="34" charset="0"/>
              </a:rPr>
              <a:t>Crackles Sound Coarse – (100 – 600 Hz)</a:t>
            </a:r>
          </a:p>
          <a:p>
            <a:endParaRPr lang="en-IN" dirty="0">
              <a:latin typeface="Bahnschrift" panose="020B0502040204020203" pitchFamily="34" charset="0"/>
            </a:endParaRPr>
          </a:p>
          <a:p>
            <a:r>
              <a:rPr lang="en-IN" dirty="0">
                <a:latin typeface="Bahnschrift" panose="020B0502040204020203" pitchFamily="34" charset="0"/>
              </a:rPr>
              <a:t>Wheezes Sound – (100 – 1000 Hz and Peak at 400 Hz)</a:t>
            </a:r>
          </a:p>
        </p:txBody>
      </p:sp>
    </p:spTree>
    <p:extLst>
      <p:ext uri="{BB962C8B-B14F-4D97-AF65-F5344CB8AC3E}">
        <p14:creationId xmlns:p14="http://schemas.microsoft.com/office/powerpoint/2010/main" val="1135240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PROBABLE SEPARATION AREA</a:t>
            </a:r>
          </a:p>
        </p:txBody>
      </p:sp>
      <p:sp>
        <p:nvSpPr>
          <p:cNvPr id="3" name="Content Placeholder 2">
            <a:extLst>
              <a:ext uri="{FF2B5EF4-FFF2-40B4-BE49-F238E27FC236}">
                <a16:creationId xmlns:a16="http://schemas.microsoft.com/office/drawing/2014/main" id="{99CB7AF5-1762-AC52-6583-1DD97ED4B6D3}"/>
              </a:ext>
            </a:extLst>
          </p:cNvPr>
          <p:cNvSpPr>
            <a:spLocks noGrp="1"/>
          </p:cNvSpPr>
          <p:nvPr>
            <p:ph idx="1"/>
          </p:nvPr>
        </p:nvSpPr>
        <p:spPr/>
        <p:txBody>
          <a:bodyPr/>
          <a:lstStyle/>
          <a:p>
            <a:r>
              <a:rPr lang="en-IN" dirty="0">
                <a:latin typeface="Bahnschrift" panose="020B0502040204020203" pitchFamily="34" charset="0"/>
              </a:rPr>
              <a:t>Heart Sound Signal – (20 – 200 Hz) </a:t>
            </a:r>
          </a:p>
          <a:p>
            <a:pPr lvl="1"/>
            <a:r>
              <a:rPr lang="en-IN" dirty="0">
                <a:latin typeface="Bahnschrift" panose="020B0502040204020203" pitchFamily="34" charset="0"/>
              </a:rPr>
              <a:t> 20 – 40 dB for S1, S2 </a:t>
            </a:r>
          </a:p>
          <a:p>
            <a:pPr lvl="1"/>
            <a:r>
              <a:rPr lang="en-IN" dirty="0">
                <a:latin typeface="Bahnschrift" panose="020B0502040204020203" pitchFamily="34" charset="0"/>
              </a:rPr>
              <a:t> 10 – 30 dB for S3, S4</a:t>
            </a:r>
          </a:p>
          <a:p>
            <a:endParaRPr lang="en-IN" dirty="0">
              <a:latin typeface="Bahnschrift" panose="020B0502040204020203" pitchFamily="34" charset="0"/>
            </a:endParaRPr>
          </a:p>
        </p:txBody>
      </p:sp>
      <p:pic>
        <p:nvPicPr>
          <p:cNvPr id="1026" name="Picture 2" descr="PCG heart sound signal. | Download Scientific Diagram">
            <a:extLst>
              <a:ext uri="{FF2B5EF4-FFF2-40B4-BE49-F238E27FC236}">
                <a16:creationId xmlns:a16="http://schemas.microsoft.com/office/drawing/2014/main" id="{A0217C9A-B724-1AC9-BB0F-763F05157A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0371" y="3510116"/>
            <a:ext cx="6827147" cy="3212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985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PROBABLE SEPARATION AREA</a:t>
            </a:r>
          </a:p>
        </p:txBody>
      </p:sp>
      <p:sp>
        <p:nvSpPr>
          <p:cNvPr id="3" name="Content Placeholder 2">
            <a:extLst>
              <a:ext uri="{FF2B5EF4-FFF2-40B4-BE49-F238E27FC236}">
                <a16:creationId xmlns:a16="http://schemas.microsoft.com/office/drawing/2014/main" id="{99CB7AF5-1762-AC52-6583-1DD97ED4B6D3}"/>
              </a:ext>
            </a:extLst>
          </p:cNvPr>
          <p:cNvSpPr>
            <a:spLocks noGrp="1"/>
          </p:cNvSpPr>
          <p:nvPr>
            <p:ph idx="1"/>
          </p:nvPr>
        </p:nvSpPr>
        <p:spPr/>
        <p:txBody>
          <a:bodyPr/>
          <a:lstStyle/>
          <a:p>
            <a:pPr marL="0" indent="0">
              <a:buNone/>
            </a:pPr>
            <a:endParaRPr lang="en-IN" dirty="0">
              <a:latin typeface="Bahnschrift" panose="020B0502040204020203" pitchFamily="34" charset="0"/>
            </a:endParaRPr>
          </a:p>
          <a:p>
            <a:r>
              <a:rPr lang="en-IN" dirty="0">
                <a:latin typeface="Bahnschrift" panose="020B0502040204020203" pitchFamily="34" charset="0"/>
              </a:rPr>
              <a:t>Lung Sound Signal – (&lt;4200 Hz)</a:t>
            </a:r>
          </a:p>
          <a:p>
            <a:pPr lvl="1"/>
            <a:r>
              <a:rPr lang="en-IN" dirty="0">
                <a:latin typeface="Bahnschrift" panose="020B0502040204020203" pitchFamily="34" charset="0"/>
              </a:rPr>
              <a:t>Vesicular 20 to 30 dB</a:t>
            </a:r>
          </a:p>
          <a:p>
            <a:pPr lvl="1"/>
            <a:r>
              <a:rPr lang="en-IN" dirty="0">
                <a:latin typeface="Bahnschrift" panose="020B0502040204020203" pitchFamily="34" charset="0"/>
              </a:rPr>
              <a:t>Bronchial 30 to 60 dB</a:t>
            </a:r>
          </a:p>
          <a:p>
            <a:pPr lvl="1"/>
            <a:r>
              <a:rPr lang="en-IN" dirty="0">
                <a:latin typeface="Bahnschrift" panose="020B0502040204020203" pitchFamily="34" charset="0"/>
              </a:rPr>
              <a:t>Crackles 40 to 70 dB</a:t>
            </a:r>
          </a:p>
          <a:p>
            <a:pPr lvl="1"/>
            <a:r>
              <a:rPr lang="en-IN" dirty="0">
                <a:latin typeface="Bahnschrift" panose="020B0502040204020203" pitchFamily="34" charset="0"/>
              </a:rPr>
              <a:t>Wheezes 50 to 90 dB </a:t>
            </a:r>
          </a:p>
        </p:txBody>
      </p:sp>
      <p:pic>
        <p:nvPicPr>
          <p:cNvPr id="2052" name="Picture 4" descr="Airflow and lung sound signals. Airflow signal (black) and the ...">
            <a:extLst>
              <a:ext uri="{FF2B5EF4-FFF2-40B4-BE49-F238E27FC236}">
                <a16:creationId xmlns:a16="http://schemas.microsoft.com/office/drawing/2014/main" id="{0619D03D-E434-58B7-BB8C-AA4E810E89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455"/>
          <a:stretch/>
        </p:blipFill>
        <p:spPr bwMode="auto">
          <a:xfrm>
            <a:off x="5740489" y="2831690"/>
            <a:ext cx="5765711" cy="3077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429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CC76-C9DB-1077-9452-88B6FB505B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53176-C71A-BB29-8C35-ED2A6B620A08}"/>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PROBABLE SEPARATION AREA</a:t>
            </a:r>
          </a:p>
        </p:txBody>
      </p:sp>
      <p:pic>
        <p:nvPicPr>
          <p:cNvPr id="2050" name="Picture 2">
            <a:extLst>
              <a:ext uri="{FF2B5EF4-FFF2-40B4-BE49-F238E27FC236}">
                <a16:creationId xmlns:a16="http://schemas.microsoft.com/office/drawing/2014/main" id="{9277585D-EA11-0812-ECAB-85298C175EA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42788" y="2989006"/>
            <a:ext cx="6082510" cy="28316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BB22357-51C3-642D-245A-1EA98ACAD0BB}"/>
              </a:ext>
            </a:extLst>
          </p:cNvPr>
          <p:cNvSpPr txBox="1"/>
          <p:nvPr/>
        </p:nvSpPr>
        <p:spPr>
          <a:xfrm>
            <a:off x="727587" y="2057401"/>
            <a:ext cx="3775587" cy="646331"/>
          </a:xfrm>
          <a:prstGeom prst="rect">
            <a:avLst/>
          </a:prstGeom>
          <a:noFill/>
        </p:spPr>
        <p:txBody>
          <a:bodyPr wrap="square" rtlCol="0">
            <a:spAutoFit/>
          </a:bodyPr>
          <a:lstStyle/>
          <a:p>
            <a:r>
              <a:rPr lang="en-IN" dirty="0">
                <a:latin typeface="Bahnschrift" panose="020B0502040204020203" pitchFamily="34" charset="0"/>
              </a:rPr>
              <a:t>MFCC Based separation images for Normal, Murmur, Extra Systole</a:t>
            </a:r>
          </a:p>
        </p:txBody>
      </p:sp>
    </p:spTree>
    <p:extLst>
      <p:ext uri="{BB962C8B-B14F-4D97-AF65-F5344CB8AC3E}">
        <p14:creationId xmlns:p14="http://schemas.microsoft.com/office/powerpoint/2010/main" val="2593095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5464F-38E0-926A-C701-AA1777370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3B94B-50FE-53B7-3F6C-F724A9FB606E}"/>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ALGORITHM</a:t>
            </a:r>
          </a:p>
        </p:txBody>
      </p:sp>
      <p:sp>
        <p:nvSpPr>
          <p:cNvPr id="5" name="Content Placeholder 4">
            <a:extLst>
              <a:ext uri="{FF2B5EF4-FFF2-40B4-BE49-F238E27FC236}">
                <a16:creationId xmlns:a16="http://schemas.microsoft.com/office/drawing/2014/main" id="{E3AEA947-E77E-0AFF-4631-35C748F08813}"/>
              </a:ext>
            </a:extLst>
          </p:cNvPr>
          <p:cNvSpPr>
            <a:spLocks noGrp="1"/>
          </p:cNvSpPr>
          <p:nvPr>
            <p:ph idx="1"/>
          </p:nvPr>
        </p:nvSpPr>
        <p:spPr>
          <a:xfrm>
            <a:off x="882445" y="2184728"/>
            <a:ext cx="10820400" cy="4024125"/>
          </a:xfrm>
        </p:spPr>
        <p:txBody>
          <a:bodyPr/>
          <a:lstStyle/>
          <a:p>
            <a:pPr marL="342900" indent="-342900">
              <a:buAutoNum type="arabicPeriod"/>
            </a:pPr>
            <a:r>
              <a:rPr lang="en-IN" dirty="0">
                <a:latin typeface="Bahnschrift" panose="020B0502040204020203" pitchFamily="34" charset="0"/>
              </a:rPr>
              <a:t>Preprocess the signal by using </a:t>
            </a:r>
          </a:p>
          <a:p>
            <a:pPr marL="0" indent="0">
              <a:buNone/>
            </a:pPr>
            <a:r>
              <a:rPr lang="en-IN" dirty="0">
                <a:latin typeface="Bahnschrift" panose="020B0502040204020203" pitchFamily="34" charset="0"/>
              </a:rPr>
              <a:t>	Kaiser Window BPF – HSS</a:t>
            </a:r>
          </a:p>
          <a:p>
            <a:pPr marL="0" indent="0">
              <a:buNone/>
            </a:pPr>
            <a:r>
              <a:rPr lang="en-IN" dirty="0">
                <a:latin typeface="Bahnschrift" panose="020B0502040204020203" pitchFamily="34" charset="0"/>
              </a:rPr>
              <a:t>	Kaiser Window HPF – LSS</a:t>
            </a:r>
          </a:p>
          <a:p>
            <a:pPr marL="0" indent="0">
              <a:buNone/>
            </a:pPr>
            <a:r>
              <a:rPr lang="en-IN" dirty="0">
                <a:latin typeface="Bahnschrift" panose="020B0502040204020203" pitchFamily="34" charset="0"/>
              </a:rPr>
              <a:t>2.  Use </a:t>
            </a:r>
            <a:r>
              <a:rPr lang="en-IN" dirty="0" err="1">
                <a:latin typeface="Bahnschrift" panose="020B0502040204020203" pitchFamily="34" charset="0"/>
              </a:rPr>
              <a:t>Daubechius</a:t>
            </a:r>
            <a:r>
              <a:rPr lang="en-IN" dirty="0">
                <a:latin typeface="Bahnschrift" panose="020B0502040204020203" pitchFamily="34" charset="0"/>
              </a:rPr>
              <a:t> Wavelet Filter</a:t>
            </a:r>
          </a:p>
          <a:p>
            <a:pPr marL="0" indent="0">
              <a:buNone/>
            </a:pPr>
            <a:r>
              <a:rPr lang="en-IN" dirty="0">
                <a:latin typeface="Bahnschrift" panose="020B0502040204020203" pitchFamily="34" charset="0"/>
              </a:rPr>
              <a:t>	BPF – HSS</a:t>
            </a:r>
          </a:p>
          <a:p>
            <a:pPr marL="0" indent="0">
              <a:buNone/>
            </a:pPr>
            <a:r>
              <a:rPr lang="en-IN" dirty="0">
                <a:latin typeface="Bahnschrift" panose="020B0502040204020203" pitchFamily="34" charset="0"/>
              </a:rPr>
              <a:t>	HPF – LSS</a:t>
            </a:r>
          </a:p>
          <a:p>
            <a:pPr marL="342900" indent="-342900">
              <a:buAutoNum type="arabicPeriod" startAt="3"/>
            </a:pPr>
            <a:r>
              <a:rPr lang="en-IN" dirty="0">
                <a:latin typeface="Bahnschrift" panose="020B0502040204020203" pitchFamily="34" charset="0"/>
              </a:rPr>
              <a:t>Use Recursive Least Square Algorithm</a:t>
            </a:r>
          </a:p>
          <a:p>
            <a:pPr marL="0" indent="0">
              <a:buNone/>
            </a:pPr>
            <a:r>
              <a:rPr lang="en-IN" dirty="0">
                <a:latin typeface="Bahnschrift" panose="020B0502040204020203" pitchFamily="34" charset="0"/>
              </a:rPr>
              <a:t>	 for the output of wavelet filter of HSS and LSS</a:t>
            </a:r>
          </a:p>
          <a:p>
            <a:pPr marL="0" indent="0">
              <a:buNone/>
            </a:pPr>
            <a:r>
              <a:rPr lang="en-IN" dirty="0">
                <a:latin typeface="Bahnschrift" panose="020B0502040204020203" pitchFamily="34" charset="0"/>
              </a:rPr>
              <a:t>4. Conversion to MFCC Image</a:t>
            </a:r>
            <a:endParaRPr lang="en-IN" dirty="0"/>
          </a:p>
        </p:txBody>
      </p:sp>
    </p:spTree>
    <p:extLst>
      <p:ext uri="{BB962C8B-B14F-4D97-AF65-F5344CB8AC3E}">
        <p14:creationId xmlns:p14="http://schemas.microsoft.com/office/powerpoint/2010/main" val="105519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6C28-A813-A79D-2C66-247CAC4A9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06B1D-8B11-5E81-305E-327C96D2F903}"/>
              </a:ext>
            </a:extLst>
          </p:cNvPr>
          <p:cNvSpPr>
            <a:spLocks noGrp="1"/>
          </p:cNvSpPr>
          <p:nvPr>
            <p:ph type="title"/>
          </p:nvPr>
        </p:nvSpPr>
        <p:spPr>
          <a:xfrm>
            <a:off x="2856271" y="325992"/>
            <a:ext cx="8610600" cy="1293028"/>
          </a:xfrm>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WORK DONE</a:t>
            </a:r>
          </a:p>
        </p:txBody>
      </p:sp>
      <p:pic>
        <p:nvPicPr>
          <p:cNvPr id="4" name="Content Placeholder 3">
            <a:extLst>
              <a:ext uri="{FF2B5EF4-FFF2-40B4-BE49-F238E27FC236}">
                <a16:creationId xmlns:a16="http://schemas.microsoft.com/office/drawing/2014/main" id="{AA2CDA87-98EB-9BB8-0F0E-83A2164107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199" y="2963039"/>
            <a:ext cx="4355627" cy="2092964"/>
          </a:xfrm>
        </p:spPr>
      </p:pic>
      <p:pic>
        <p:nvPicPr>
          <p:cNvPr id="7" name="Picture 6">
            <a:extLst>
              <a:ext uri="{FF2B5EF4-FFF2-40B4-BE49-F238E27FC236}">
                <a16:creationId xmlns:a16="http://schemas.microsoft.com/office/drawing/2014/main" id="{F185BD44-3927-9C2E-0A15-4C2DF8E96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563" y="1518730"/>
            <a:ext cx="4201464" cy="2215488"/>
          </a:xfrm>
          <a:prstGeom prst="rect">
            <a:avLst/>
          </a:prstGeom>
        </p:spPr>
      </p:pic>
      <p:pic>
        <p:nvPicPr>
          <p:cNvPr id="11" name="Picture 10">
            <a:extLst>
              <a:ext uri="{FF2B5EF4-FFF2-40B4-BE49-F238E27FC236}">
                <a16:creationId xmlns:a16="http://schemas.microsoft.com/office/drawing/2014/main" id="{3316A693-910F-3949-96F9-1A0D7E6F2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5225" y="4238110"/>
            <a:ext cx="4355627" cy="2293898"/>
          </a:xfrm>
          <a:prstGeom prst="rect">
            <a:avLst/>
          </a:prstGeom>
        </p:spPr>
      </p:pic>
      <p:sp>
        <p:nvSpPr>
          <p:cNvPr id="12" name="TextBox 11">
            <a:extLst>
              <a:ext uri="{FF2B5EF4-FFF2-40B4-BE49-F238E27FC236}">
                <a16:creationId xmlns:a16="http://schemas.microsoft.com/office/drawing/2014/main" id="{4A6AF9A2-A6C5-4577-3953-7AFA2BAC8575}"/>
              </a:ext>
            </a:extLst>
          </p:cNvPr>
          <p:cNvSpPr txBox="1"/>
          <p:nvPr/>
        </p:nvSpPr>
        <p:spPr>
          <a:xfrm>
            <a:off x="422787" y="5339270"/>
            <a:ext cx="4218039" cy="369332"/>
          </a:xfrm>
          <a:prstGeom prst="rect">
            <a:avLst/>
          </a:prstGeom>
          <a:noFill/>
        </p:spPr>
        <p:txBody>
          <a:bodyPr wrap="square" rtlCol="0">
            <a:spAutoFit/>
          </a:bodyPr>
          <a:lstStyle/>
          <a:p>
            <a:r>
              <a:rPr lang="en-IN" dirty="0">
                <a:latin typeface="Aptos" panose="020B0004020202020204" pitchFamily="34" charset="0"/>
              </a:rPr>
              <a:t>Input Audio MFCC before Processing</a:t>
            </a:r>
          </a:p>
        </p:txBody>
      </p:sp>
      <p:sp>
        <p:nvSpPr>
          <p:cNvPr id="13" name="TextBox 12">
            <a:extLst>
              <a:ext uri="{FF2B5EF4-FFF2-40B4-BE49-F238E27FC236}">
                <a16:creationId xmlns:a16="http://schemas.microsoft.com/office/drawing/2014/main" id="{0407A9D3-2C06-C15A-A941-3E07E04897B8}"/>
              </a:ext>
            </a:extLst>
          </p:cNvPr>
          <p:cNvSpPr txBox="1"/>
          <p:nvPr/>
        </p:nvSpPr>
        <p:spPr>
          <a:xfrm>
            <a:off x="10500852" y="1858297"/>
            <a:ext cx="1490912" cy="646331"/>
          </a:xfrm>
          <a:prstGeom prst="rect">
            <a:avLst/>
          </a:prstGeom>
          <a:noFill/>
        </p:spPr>
        <p:txBody>
          <a:bodyPr wrap="square" rtlCol="0">
            <a:spAutoFit/>
          </a:bodyPr>
          <a:lstStyle/>
          <a:p>
            <a:r>
              <a:rPr lang="en-IN" dirty="0">
                <a:latin typeface="Aptos" panose="020B0004020202020204" pitchFamily="34" charset="0"/>
              </a:rPr>
              <a:t>HSS after Processing</a:t>
            </a:r>
          </a:p>
        </p:txBody>
      </p:sp>
      <p:sp>
        <p:nvSpPr>
          <p:cNvPr id="14" name="TextBox 13">
            <a:extLst>
              <a:ext uri="{FF2B5EF4-FFF2-40B4-BE49-F238E27FC236}">
                <a16:creationId xmlns:a16="http://schemas.microsoft.com/office/drawing/2014/main" id="{0E3E13CC-E733-B742-F820-479B8B215CB5}"/>
              </a:ext>
            </a:extLst>
          </p:cNvPr>
          <p:cNvSpPr txBox="1"/>
          <p:nvPr/>
        </p:nvSpPr>
        <p:spPr>
          <a:xfrm>
            <a:off x="10569614" y="4692939"/>
            <a:ext cx="1490912" cy="646331"/>
          </a:xfrm>
          <a:prstGeom prst="rect">
            <a:avLst/>
          </a:prstGeom>
          <a:noFill/>
        </p:spPr>
        <p:txBody>
          <a:bodyPr wrap="square" rtlCol="0">
            <a:spAutoFit/>
          </a:bodyPr>
          <a:lstStyle/>
          <a:p>
            <a:r>
              <a:rPr lang="en-IN" dirty="0">
                <a:latin typeface="Aptos" panose="020B0004020202020204" pitchFamily="34" charset="0"/>
              </a:rPr>
              <a:t>LSS after Processing</a:t>
            </a:r>
          </a:p>
        </p:txBody>
      </p:sp>
    </p:spTree>
    <p:extLst>
      <p:ext uri="{BB962C8B-B14F-4D97-AF65-F5344CB8AC3E}">
        <p14:creationId xmlns:p14="http://schemas.microsoft.com/office/powerpoint/2010/main" val="3197640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6C16F-6283-8E6B-3EFD-6EFF66E33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7493C-4104-8DAE-E266-998C447E9411}"/>
              </a:ext>
            </a:extLst>
          </p:cNvPr>
          <p:cNvSpPr>
            <a:spLocks noGrp="1"/>
          </p:cNvSpPr>
          <p:nvPr>
            <p:ph type="title"/>
          </p:nvPr>
        </p:nvSpPr>
        <p:spPr>
          <a:xfrm>
            <a:off x="-68826" y="325992"/>
            <a:ext cx="11535697" cy="1293028"/>
          </a:xfrm>
        </p:spPr>
        <p:txBody>
          <a:bodyPr>
            <a:normAutofit/>
          </a:bodyPr>
          <a:lstStyle/>
          <a:p>
            <a:r>
              <a:rPr lang="en-IN" sz="3600" b="1" dirty="0">
                <a:solidFill>
                  <a:srgbClr val="7030A0"/>
                </a:solidFill>
                <a:effectLst>
                  <a:outerShdw blurRad="38100" dist="38100" dir="2700000" algn="tl">
                    <a:srgbClr val="000000">
                      <a:alpha val="43137"/>
                    </a:srgbClr>
                  </a:outerShdw>
                </a:effectLst>
                <a:latin typeface="Bahnschrift SemiBold" panose="020B0502040204020203" pitchFamily="34" charset="0"/>
              </a:rPr>
              <a:t>DISEASE DETECTION</a:t>
            </a:r>
          </a:p>
        </p:txBody>
      </p:sp>
      <p:sp>
        <p:nvSpPr>
          <p:cNvPr id="12" name="TextBox 11">
            <a:extLst>
              <a:ext uri="{FF2B5EF4-FFF2-40B4-BE49-F238E27FC236}">
                <a16:creationId xmlns:a16="http://schemas.microsoft.com/office/drawing/2014/main" id="{0F4624B5-F7AC-A7A5-5569-A2ABC69923C3}"/>
              </a:ext>
            </a:extLst>
          </p:cNvPr>
          <p:cNvSpPr txBox="1"/>
          <p:nvPr/>
        </p:nvSpPr>
        <p:spPr>
          <a:xfrm>
            <a:off x="294967" y="4872418"/>
            <a:ext cx="4218039" cy="369332"/>
          </a:xfrm>
          <a:prstGeom prst="rect">
            <a:avLst/>
          </a:prstGeom>
          <a:noFill/>
        </p:spPr>
        <p:txBody>
          <a:bodyPr wrap="square" rtlCol="0">
            <a:spAutoFit/>
          </a:bodyPr>
          <a:lstStyle/>
          <a:p>
            <a:r>
              <a:rPr lang="en-IN" dirty="0">
                <a:latin typeface="Aptos" panose="020B0004020202020204" pitchFamily="34" charset="0"/>
              </a:rPr>
              <a:t>Normal Person Heart sound MFCC</a:t>
            </a:r>
          </a:p>
        </p:txBody>
      </p:sp>
      <p:sp>
        <p:nvSpPr>
          <p:cNvPr id="14" name="TextBox 13">
            <a:extLst>
              <a:ext uri="{FF2B5EF4-FFF2-40B4-BE49-F238E27FC236}">
                <a16:creationId xmlns:a16="http://schemas.microsoft.com/office/drawing/2014/main" id="{F1C7D6F4-3456-148E-DFBD-E3CB5BD4D978}"/>
              </a:ext>
            </a:extLst>
          </p:cNvPr>
          <p:cNvSpPr txBox="1"/>
          <p:nvPr/>
        </p:nvSpPr>
        <p:spPr>
          <a:xfrm>
            <a:off x="6420464" y="4925440"/>
            <a:ext cx="4725726" cy="369332"/>
          </a:xfrm>
          <a:prstGeom prst="rect">
            <a:avLst/>
          </a:prstGeom>
          <a:noFill/>
        </p:spPr>
        <p:txBody>
          <a:bodyPr wrap="square" rtlCol="0">
            <a:spAutoFit/>
          </a:bodyPr>
          <a:lstStyle/>
          <a:p>
            <a:r>
              <a:rPr lang="en-IN" dirty="0">
                <a:latin typeface="Aptos" panose="020B0004020202020204" pitchFamily="34" charset="0"/>
              </a:rPr>
              <a:t>Mitral Valve Regurgitation</a:t>
            </a:r>
          </a:p>
        </p:txBody>
      </p:sp>
      <p:pic>
        <p:nvPicPr>
          <p:cNvPr id="8" name="Content Placeholder 7">
            <a:extLst>
              <a:ext uri="{FF2B5EF4-FFF2-40B4-BE49-F238E27FC236}">
                <a16:creationId xmlns:a16="http://schemas.microsoft.com/office/drawing/2014/main" id="{EABAD0DC-49F3-9A0C-2DB2-CCBD7DB033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236" y="2300749"/>
            <a:ext cx="5947892" cy="2074606"/>
          </a:xfrm>
        </p:spPr>
      </p:pic>
      <p:pic>
        <p:nvPicPr>
          <p:cNvPr id="10" name="Picture 9">
            <a:extLst>
              <a:ext uri="{FF2B5EF4-FFF2-40B4-BE49-F238E27FC236}">
                <a16:creationId xmlns:a16="http://schemas.microsoft.com/office/drawing/2014/main" id="{E7C0EF4E-BDED-456B-3437-0A6F771767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8128" y="2300749"/>
            <a:ext cx="5596435" cy="2074606"/>
          </a:xfrm>
          <a:prstGeom prst="rect">
            <a:avLst/>
          </a:prstGeom>
        </p:spPr>
      </p:pic>
    </p:spTree>
    <p:extLst>
      <p:ext uri="{BB962C8B-B14F-4D97-AF65-F5344CB8AC3E}">
        <p14:creationId xmlns:p14="http://schemas.microsoft.com/office/powerpoint/2010/main" val="3779692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60D9F-3F73-02F7-8D48-A311F6BB0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866C4-17D7-EF17-A0DA-18D41EED926F}"/>
              </a:ext>
            </a:extLst>
          </p:cNvPr>
          <p:cNvSpPr>
            <a:spLocks noGrp="1"/>
          </p:cNvSpPr>
          <p:nvPr>
            <p:ph type="title"/>
          </p:nvPr>
        </p:nvSpPr>
        <p:spPr>
          <a:xfrm>
            <a:off x="-68826" y="325992"/>
            <a:ext cx="11535697" cy="1293028"/>
          </a:xfrm>
        </p:spPr>
        <p:txBody>
          <a:bodyPr>
            <a:normAutofit/>
          </a:bodyPr>
          <a:lstStyle/>
          <a:p>
            <a:r>
              <a:rPr lang="en-IN" sz="3600" b="1" dirty="0">
                <a:solidFill>
                  <a:srgbClr val="7030A0"/>
                </a:solidFill>
                <a:effectLst>
                  <a:outerShdw blurRad="38100" dist="38100" dir="2700000" algn="tl">
                    <a:srgbClr val="000000">
                      <a:alpha val="43137"/>
                    </a:srgbClr>
                  </a:outerShdw>
                </a:effectLst>
                <a:latin typeface="Bahnschrift SemiBold" panose="020B0502040204020203" pitchFamily="34" charset="0"/>
              </a:rPr>
              <a:t>DISEASE DETECTION</a:t>
            </a:r>
          </a:p>
        </p:txBody>
      </p:sp>
      <p:sp>
        <p:nvSpPr>
          <p:cNvPr id="12" name="TextBox 11">
            <a:extLst>
              <a:ext uri="{FF2B5EF4-FFF2-40B4-BE49-F238E27FC236}">
                <a16:creationId xmlns:a16="http://schemas.microsoft.com/office/drawing/2014/main" id="{4174C306-8E48-F317-30B1-4AA6ACD57FF1}"/>
              </a:ext>
            </a:extLst>
          </p:cNvPr>
          <p:cNvSpPr txBox="1"/>
          <p:nvPr/>
        </p:nvSpPr>
        <p:spPr>
          <a:xfrm>
            <a:off x="3677263" y="4740773"/>
            <a:ext cx="4218039" cy="369332"/>
          </a:xfrm>
          <a:prstGeom prst="rect">
            <a:avLst/>
          </a:prstGeom>
          <a:noFill/>
        </p:spPr>
        <p:txBody>
          <a:bodyPr wrap="square" rtlCol="0">
            <a:spAutoFit/>
          </a:bodyPr>
          <a:lstStyle/>
          <a:p>
            <a:r>
              <a:rPr lang="en-IN" dirty="0">
                <a:latin typeface="Aptos" panose="020B0004020202020204" pitchFamily="34" charset="0"/>
              </a:rPr>
              <a:t>Mitral Valve Prolapse</a:t>
            </a:r>
          </a:p>
        </p:txBody>
      </p:sp>
      <p:pic>
        <p:nvPicPr>
          <p:cNvPr id="6" name="Content Placeholder 5">
            <a:extLst>
              <a:ext uri="{FF2B5EF4-FFF2-40B4-BE49-F238E27FC236}">
                <a16:creationId xmlns:a16="http://schemas.microsoft.com/office/drawing/2014/main" id="{9142CD36-EEC6-7D9F-A247-2748652B6B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0245" y="2181922"/>
            <a:ext cx="5748906" cy="1995949"/>
          </a:xfrm>
        </p:spPr>
      </p:pic>
    </p:spTree>
    <p:extLst>
      <p:ext uri="{BB962C8B-B14F-4D97-AF65-F5344CB8AC3E}">
        <p14:creationId xmlns:p14="http://schemas.microsoft.com/office/powerpoint/2010/main" val="2389266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FDE4F-48B1-B81A-0739-880E2498A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B9C12-C3FA-180D-E87D-395A42862315}"/>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ALGORITHM – TO BE DONE</a:t>
            </a:r>
          </a:p>
        </p:txBody>
      </p:sp>
      <p:sp>
        <p:nvSpPr>
          <p:cNvPr id="5" name="Content Placeholder 4">
            <a:extLst>
              <a:ext uri="{FF2B5EF4-FFF2-40B4-BE49-F238E27FC236}">
                <a16:creationId xmlns:a16="http://schemas.microsoft.com/office/drawing/2014/main" id="{FCCF3AC0-6F16-9FD1-7E59-E1434E1166E4}"/>
              </a:ext>
            </a:extLst>
          </p:cNvPr>
          <p:cNvSpPr>
            <a:spLocks noGrp="1"/>
          </p:cNvSpPr>
          <p:nvPr>
            <p:ph idx="1"/>
          </p:nvPr>
        </p:nvSpPr>
        <p:spPr>
          <a:xfrm>
            <a:off x="616974" y="1584960"/>
            <a:ext cx="10820400" cy="4024125"/>
          </a:xfrm>
        </p:spPr>
        <p:txBody>
          <a:bodyPr>
            <a:normAutofit fontScale="92500" lnSpcReduction="10000"/>
          </a:bodyPr>
          <a:lstStyle/>
          <a:p>
            <a:pPr marL="342900" indent="-342900">
              <a:buAutoNum type="arabicPeriod"/>
            </a:pPr>
            <a:endParaRPr lang="en-IN" dirty="0">
              <a:latin typeface="Bahnschrift" panose="020B0502040204020203" pitchFamily="34" charset="0"/>
            </a:endParaRPr>
          </a:p>
          <a:p>
            <a:pPr marL="342900" indent="-342900">
              <a:buAutoNum type="arabicPeriod"/>
            </a:pPr>
            <a:endParaRPr lang="en-IN" dirty="0">
              <a:latin typeface="Bahnschrift" panose="020B0502040204020203" pitchFamily="34" charset="0"/>
            </a:endParaRPr>
          </a:p>
          <a:p>
            <a:pPr marL="342900" indent="-342900">
              <a:buAutoNum type="arabicPeriod"/>
            </a:pPr>
            <a:r>
              <a:rPr lang="en-IN" dirty="0">
                <a:latin typeface="Bahnschrift" panose="020B0502040204020203" pitchFamily="34" charset="0"/>
              </a:rPr>
              <a:t>We have to perform periodic clustering by analysing S1 S2 heart sound in interval of 0 to 20 milliseconds for processing the image from left to right and segment its parts by relating it out with violet based pixel arousing in horizontal line as limit for its variation. </a:t>
            </a:r>
          </a:p>
          <a:p>
            <a:pPr marL="342900" indent="-342900">
              <a:buAutoNum type="arabicPeriod"/>
            </a:pPr>
            <a:endParaRPr lang="en-IN" dirty="0">
              <a:latin typeface="Bahnschrift" panose="020B0502040204020203" pitchFamily="34" charset="0"/>
            </a:endParaRPr>
          </a:p>
          <a:p>
            <a:pPr marL="342900" indent="-342900">
              <a:buAutoNum type="arabicPeriod"/>
            </a:pPr>
            <a:r>
              <a:rPr lang="en-IN" dirty="0">
                <a:latin typeface="Bahnschrift" panose="020B0502040204020203" pitchFamily="34" charset="0"/>
              </a:rPr>
              <a:t>Next We can process the MFCC image of HSS and LSS using GRU based Deep Neural Network for processing MFCC image and find the labels out for HSS and LSS</a:t>
            </a:r>
          </a:p>
          <a:p>
            <a:pPr marL="342900" indent="-342900">
              <a:buAutoNum type="arabicPeriod"/>
            </a:pPr>
            <a:endParaRPr lang="en-IN" dirty="0">
              <a:latin typeface="Bahnschrift" panose="020B0502040204020203" pitchFamily="34" charset="0"/>
            </a:endParaRPr>
          </a:p>
          <a:p>
            <a:pPr marL="342900" indent="-342900">
              <a:buAutoNum type="arabicPeriod"/>
            </a:pPr>
            <a:r>
              <a:rPr lang="en-IN" dirty="0">
                <a:latin typeface="Bahnschrift" panose="020B0502040204020203" pitchFamily="34" charset="0"/>
              </a:rPr>
              <a:t>After GRU based neural network we opt to process the neural network output with optimization algorithm and check for possibility of construction of R-CNN based network for segmenting and classifying each sound in heart as well as lungs and segment as output and predict probability of disease occurrence</a:t>
            </a:r>
          </a:p>
          <a:p>
            <a:pPr marL="342900" indent="-342900">
              <a:buAutoNum type="arabicPeriod"/>
            </a:pPr>
            <a:endParaRPr lang="en-IN" dirty="0"/>
          </a:p>
        </p:txBody>
      </p:sp>
    </p:spTree>
    <p:extLst>
      <p:ext uri="{BB962C8B-B14F-4D97-AF65-F5344CB8AC3E}">
        <p14:creationId xmlns:p14="http://schemas.microsoft.com/office/powerpoint/2010/main" val="1511074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C5F8-006C-57D1-BB2B-B6BBBFF91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7DDB0-359B-8EF8-CCD8-02CAE0BE1409}"/>
              </a:ext>
            </a:extLst>
          </p:cNvPr>
          <p:cNvSpPr>
            <a:spLocks noGrp="1"/>
          </p:cNvSpPr>
          <p:nvPr>
            <p:ph type="title"/>
          </p:nvPr>
        </p:nvSpPr>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ALGORITHM – TO BE DONE</a:t>
            </a:r>
          </a:p>
        </p:txBody>
      </p:sp>
      <p:sp>
        <p:nvSpPr>
          <p:cNvPr id="5" name="Content Placeholder 4">
            <a:extLst>
              <a:ext uri="{FF2B5EF4-FFF2-40B4-BE49-F238E27FC236}">
                <a16:creationId xmlns:a16="http://schemas.microsoft.com/office/drawing/2014/main" id="{47FE5BE2-8353-3837-524F-7955B0195021}"/>
              </a:ext>
            </a:extLst>
          </p:cNvPr>
          <p:cNvSpPr>
            <a:spLocks noGrp="1"/>
          </p:cNvSpPr>
          <p:nvPr>
            <p:ph idx="1"/>
          </p:nvPr>
        </p:nvSpPr>
        <p:spPr>
          <a:xfrm>
            <a:off x="616974" y="1584960"/>
            <a:ext cx="10820400" cy="4024125"/>
          </a:xfrm>
        </p:spPr>
        <p:txBody>
          <a:bodyPr>
            <a:normAutofit/>
          </a:bodyPr>
          <a:lstStyle/>
          <a:p>
            <a:pPr marL="342900" indent="-342900">
              <a:buAutoNum type="arabicPeriod"/>
            </a:pPr>
            <a:endParaRPr lang="en-IN" dirty="0">
              <a:latin typeface="Bahnschrift" panose="020B0502040204020203" pitchFamily="34" charset="0"/>
            </a:endParaRPr>
          </a:p>
          <a:p>
            <a:pPr marL="342900" indent="-342900">
              <a:buAutoNum type="arabicPeriod"/>
            </a:pPr>
            <a:endParaRPr lang="en-IN" dirty="0">
              <a:latin typeface="Bahnschrift" panose="020B0502040204020203" pitchFamily="34" charset="0"/>
            </a:endParaRPr>
          </a:p>
          <a:p>
            <a:pPr marL="342900" indent="-342900">
              <a:buAutoNum type="arabicPeriod"/>
            </a:pPr>
            <a:r>
              <a:rPr lang="en-IN" dirty="0">
                <a:latin typeface="Bahnschrift" panose="020B0502040204020203" pitchFamily="34" charset="0"/>
              </a:rPr>
              <a:t>Google </a:t>
            </a:r>
            <a:r>
              <a:rPr lang="en-IN" dirty="0" err="1">
                <a:latin typeface="Bahnschrift" panose="020B0502040204020203" pitchFamily="34" charset="0"/>
              </a:rPr>
              <a:t>Colab</a:t>
            </a:r>
            <a:r>
              <a:rPr lang="en-IN" dirty="0">
                <a:latin typeface="Bahnschrift" panose="020B0502040204020203" pitchFamily="34" charset="0"/>
              </a:rPr>
              <a:t> Link : </a:t>
            </a:r>
            <a:r>
              <a:rPr lang="en-US" dirty="0">
                <a:latin typeface="Bahnschrift" panose="020B0502040204020203" pitchFamily="34" charset="0"/>
                <a:hlinkClick r:id="rId2"/>
              </a:rPr>
              <a:t>Heart data preprocessing - </a:t>
            </a:r>
            <a:r>
              <a:rPr lang="en-US" dirty="0" err="1">
                <a:latin typeface="Bahnschrift" panose="020B0502040204020203" pitchFamily="34" charset="0"/>
                <a:hlinkClick r:id="rId2"/>
              </a:rPr>
              <a:t>Colaboratory</a:t>
            </a:r>
            <a:r>
              <a:rPr lang="en-US" dirty="0">
                <a:latin typeface="Bahnschrift" panose="020B0502040204020203" pitchFamily="34" charset="0"/>
                <a:hlinkClick r:id="rId2"/>
              </a:rPr>
              <a:t> (google.com)</a:t>
            </a:r>
            <a:endParaRPr lang="en-IN" dirty="0">
              <a:latin typeface="Bahnschrift" panose="020B0502040204020203" pitchFamily="34" charset="0"/>
            </a:endParaRPr>
          </a:p>
          <a:p>
            <a:pPr marL="342900" indent="-342900">
              <a:buAutoNum type="arabicPeriod"/>
            </a:pPr>
            <a:r>
              <a:rPr lang="en-IN" dirty="0">
                <a:latin typeface="Bahnschrift" panose="020B0502040204020203" pitchFamily="34" charset="0"/>
              </a:rPr>
              <a:t>MFCC Image Link: </a:t>
            </a:r>
            <a:r>
              <a:rPr lang="en-IN" dirty="0">
                <a:latin typeface="Bahnschrift" panose="020B0502040204020203" pitchFamily="34" charset="0"/>
                <a:hlinkClick r:id="rId3"/>
              </a:rPr>
              <a:t>Data Sets - Google Drive</a:t>
            </a:r>
            <a:endParaRPr lang="en-IN" dirty="0">
              <a:latin typeface="Bahnschrift" panose="020B0502040204020203" pitchFamily="34" charset="0"/>
            </a:endParaRPr>
          </a:p>
        </p:txBody>
      </p:sp>
    </p:spTree>
    <p:extLst>
      <p:ext uri="{BB962C8B-B14F-4D97-AF65-F5344CB8AC3E}">
        <p14:creationId xmlns:p14="http://schemas.microsoft.com/office/powerpoint/2010/main" val="2031310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24B7-B575-34E6-F67F-066632346BAC}"/>
              </a:ext>
            </a:extLst>
          </p:cNvPr>
          <p:cNvSpPr>
            <a:spLocks noGrp="1"/>
          </p:cNvSpPr>
          <p:nvPr>
            <p:ph type="title"/>
          </p:nvPr>
        </p:nvSpPr>
        <p:spPr>
          <a:xfrm>
            <a:off x="1393721" y="754541"/>
            <a:ext cx="10621297" cy="1293028"/>
          </a:xfrm>
        </p:spPr>
        <p:txBody>
          <a:bodyPr/>
          <a:lstStyle/>
          <a:p>
            <a:r>
              <a:rPr lang="en-IN" b="1" dirty="0">
                <a:solidFill>
                  <a:srgbClr val="7030A0"/>
                </a:solidFill>
                <a:effectLst>
                  <a:outerShdw blurRad="38100" dist="38100" dir="2700000" algn="tl">
                    <a:srgbClr val="000000">
                      <a:alpha val="43137"/>
                    </a:srgbClr>
                  </a:outerShdw>
                </a:effectLst>
                <a:latin typeface="Bahnschrift SemiBold" panose="020B0502040204020203" pitchFamily="34" charset="0"/>
              </a:rPr>
              <a:t>REFERENCES</a:t>
            </a:r>
          </a:p>
        </p:txBody>
      </p:sp>
      <p:sp>
        <p:nvSpPr>
          <p:cNvPr id="3" name="Content Placeholder 2">
            <a:extLst>
              <a:ext uri="{FF2B5EF4-FFF2-40B4-BE49-F238E27FC236}">
                <a16:creationId xmlns:a16="http://schemas.microsoft.com/office/drawing/2014/main" id="{99CB7AF5-1762-AC52-6583-1DD97ED4B6D3}"/>
              </a:ext>
            </a:extLst>
          </p:cNvPr>
          <p:cNvSpPr>
            <a:spLocks noGrp="1"/>
          </p:cNvSpPr>
          <p:nvPr>
            <p:ph idx="1"/>
          </p:nvPr>
        </p:nvSpPr>
        <p:spPr/>
        <p:txBody>
          <a:bodyPr>
            <a:normAutofit/>
          </a:bodyPr>
          <a:lstStyle/>
          <a:p>
            <a:pPr marL="0" indent="0">
              <a:buNone/>
            </a:pPr>
            <a:endParaRPr lang="en-IN" dirty="0">
              <a:latin typeface="Bahnschrift" panose="020B0502040204020203" pitchFamily="34" charset="0"/>
            </a:endParaRPr>
          </a:p>
          <a:p>
            <a:pPr rtl="0">
              <a:spcBef>
                <a:spcPts val="0"/>
              </a:spcBef>
              <a:spcAft>
                <a:spcPts val="800"/>
              </a:spcAft>
            </a:pPr>
            <a:r>
              <a:rPr lang="en-US" sz="1800" b="0" i="0" u="sng" strike="noStrike" dirty="0">
                <a:solidFill>
                  <a:srgbClr val="1155CC"/>
                </a:solidFill>
                <a:effectLst/>
                <a:latin typeface="Bahnschrift" panose="020B0502040204020203" pitchFamily="34" charset="0"/>
                <a:hlinkClick r:id="rId2"/>
              </a:rPr>
              <a:t>Modeling and Simulation of Pulmonary Acoustic Signal and Imaging for Lung Function Assessment | IEEE Conference Publication | IEEE Xplore</a:t>
            </a:r>
            <a:endParaRPr lang="en-US" sz="1800" b="0" dirty="0">
              <a:effectLst/>
              <a:latin typeface="Bahnschrift" panose="020B0502040204020203" pitchFamily="34" charset="0"/>
            </a:endParaRPr>
          </a:p>
          <a:p>
            <a:pPr rtl="0">
              <a:spcBef>
                <a:spcPts val="0"/>
              </a:spcBef>
              <a:spcAft>
                <a:spcPts val="800"/>
              </a:spcAft>
            </a:pPr>
            <a:r>
              <a:rPr lang="en-US" sz="1800" b="0" i="0" u="sng" strike="noStrike" dirty="0">
                <a:solidFill>
                  <a:srgbClr val="1155CC"/>
                </a:solidFill>
                <a:effectLst/>
                <a:latin typeface="Bahnschrift" panose="020B0502040204020203" pitchFamily="34" charset="0"/>
                <a:hlinkClick r:id="rId3"/>
              </a:rPr>
              <a:t>Mathematical modelling of lung function — what have we learnt and where to next? - ScienceDirect</a:t>
            </a:r>
            <a:endParaRPr lang="en-US" sz="1800" b="0" dirty="0">
              <a:effectLst/>
              <a:latin typeface="Bahnschrift" panose="020B0502040204020203" pitchFamily="34" charset="0"/>
            </a:endParaRPr>
          </a:p>
          <a:p>
            <a:r>
              <a:rPr lang="en-US" sz="1800" dirty="0">
                <a:latin typeface="Bahnschrift" panose="020B0502040204020203" pitchFamily="34" charset="0"/>
                <a:hlinkClick r:id="rId4"/>
              </a:rPr>
              <a:t>Cardiovascular Disease Recognition Based on Heartbeat Segmentation and Selection Process - PMC (nih.gov)</a:t>
            </a:r>
            <a:endParaRPr lang="en-IN" sz="1800" b="0" i="0" dirty="0">
              <a:solidFill>
                <a:srgbClr val="000000"/>
              </a:solidFill>
              <a:effectLst/>
              <a:latin typeface="Bahnschrift" panose="020B0502040204020203" pitchFamily="34" charset="0"/>
            </a:endParaRPr>
          </a:p>
          <a:p>
            <a:r>
              <a:rPr lang="en-US" sz="1800" dirty="0">
                <a:latin typeface="Bahnschrift" panose="020B0502040204020203" pitchFamily="34" charset="0"/>
                <a:hlinkClick r:id="rId5"/>
              </a:rPr>
              <a:t>https://drive.google.com/drive/folders/1PzWx71w-v6jf9BtW7zJgf52HJ69nT13C?usp=sharing</a:t>
            </a:r>
            <a:endParaRPr lang="en-IN" sz="1800" dirty="0">
              <a:solidFill>
                <a:srgbClr val="000000"/>
              </a:solidFill>
              <a:latin typeface="Bahnschrift" panose="020B0502040204020203" pitchFamily="34" charset="0"/>
            </a:endParaRPr>
          </a:p>
          <a:p>
            <a:pPr marL="0" indent="0">
              <a:buNone/>
            </a:pPr>
            <a:br>
              <a:rPr lang="en-US" dirty="0"/>
            </a:br>
            <a:endParaRPr lang="en-IN" dirty="0">
              <a:latin typeface="Bahnschrift" panose="020B0502040204020203" pitchFamily="34" charset="0"/>
            </a:endParaRPr>
          </a:p>
          <a:p>
            <a:pPr marL="0" indent="0">
              <a:buNone/>
            </a:pPr>
            <a:r>
              <a:rPr lang="en-IN" dirty="0">
                <a:latin typeface="Bahnschrift" panose="020B0502040204020203" pitchFamily="34" charset="0"/>
              </a:rPr>
              <a:t>.</a:t>
            </a:r>
          </a:p>
          <a:p>
            <a:endParaRPr lang="en-IN" dirty="0">
              <a:latin typeface="Bahnschrift" panose="020B0502040204020203" pitchFamily="34" charset="0"/>
            </a:endParaRPr>
          </a:p>
          <a:p>
            <a:endParaRPr lang="en-IN" dirty="0">
              <a:latin typeface="Bahnschrift" panose="020B0502040204020203" pitchFamily="34" charset="0"/>
            </a:endParaRPr>
          </a:p>
        </p:txBody>
      </p:sp>
    </p:spTree>
    <p:extLst>
      <p:ext uri="{BB962C8B-B14F-4D97-AF65-F5344CB8AC3E}">
        <p14:creationId xmlns:p14="http://schemas.microsoft.com/office/powerpoint/2010/main" val="2788223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D3CC6-1A57-8436-18FF-D91135BBF1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959932-07EA-78CC-E8C9-F1DEA3293F73}"/>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49FAE9D7-BC97-F724-D015-91E178BFBAB4}"/>
              </a:ext>
            </a:extLst>
          </p:cNvPr>
          <p:cNvSpPr/>
          <p:nvPr/>
        </p:nvSpPr>
        <p:spPr>
          <a:xfrm>
            <a:off x="3529673" y="3129404"/>
            <a:ext cx="5624159" cy="1077218"/>
          </a:xfrm>
          <a:prstGeom prst="rect">
            <a:avLst/>
          </a:prstGeom>
          <a:noFill/>
        </p:spPr>
        <p:txBody>
          <a:bodyPr wrap="square" lIns="91440" tIns="45720" rIns="91440" bIns="45720">
            <a:spAutoFit/>
          </a:bodyPr>
          <a:lstStyle/>
          <a:p>
            <a:pPr algn="ctr"/>
            <a:r>
              <a:rPr lang="en-US" sz="6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Bahnschrift" panose="020B0502040204020203" pitchFamily="34" charset="0"/>
              </a:rPr>
              <a:t>THANK YOU</a:t>
            </a:r>
          </a:p>
        </p:txBody>
      </p:sp>
    </p:spTree>
    <p:extLst>
      <p:ext uri="{BB962C8B-B14F-4D97-AF65-F5344CB8AC3E}">
        <p14:creationId xmlns:p14="http://schemas.microsoft.com/office/powerpoint/2010/main" val="1077838466"/>
      </p:ext>
    </p:extLst>
  </p:cSld>
  <p:clrMapOvr>
    <a:masterClrMapping/>
  </p:clrMapOvr>
</p:sld>
</file>

<file path=ppt/theme/theme1.xml><?xml version="1.0" encoding="utf-8"?>
<a:theme xmlns:a="http://schemas.openxmlformats.org/drawingml/2006/main" name="Vapor Trail">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ilk Glass">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TM04033937[[fn=Vapor Trail]]</Template>
  <TotalTime>300</TotalTime>
  <Words>1942</Words>
  <Application>Microsoft Office PowerPoint</Application>
  <PresentationFormat>Widescreen</PresentationFormat>
  <Paragraphs>240</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Arial</vt:lpstr>
      <vt:lpstr>Bahnschrift</vt:lpstr>
      <vt:lpstr>Bahnschrift SemiBold</vt:lpstr>
      <vt:lpstr>Century Gothic</vt:lpstr>
      <vt:lpstr>Vapor Trail</vt:lpstr>
      <vt:lpstr>21ECPT0 – DEEP LEARNING FOR SPEECH PROCESSING  HEART LUNG SOUND SEPARATION FOR MEDICAL DIAGNOSIS</vt:lpstr>
      <vt:lpstr>CONTENTS</vt:lpstr>
      <vt:lpstr>INTRODUCTION</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ALGORITHM</vt:lpstr>
      <vt:lpstr>RESEARCH GAP</vt:lpstr>
      <vt:lpstr>HEART SOUND SIGNAL ANALYSIS</vt:lpstr>
      <vt:lpstr>LUNG SOUND SIGNAL ANALYSIS</vt:lpstr>
      <vt:lpstr>PROBABLE SEPARATION AREA</vt:lpstr>
      <vt:lpstr>PROBABLE SEPARATION AREA</vt:lpstr>
      <vt:lpstr>PROBABLE SEPARATION AREA</vt:lpstr>
      <vt:lpstr>ALGORITHM</vt:lpstr>
      <vt:lpstr>WORK DONE</vt:lpstr>
      <vt:lpstr>DISEASE DETECTION</vt:lpstr>
      <vt:lpstr>DISEASE DETECTION</vt:lpstr>
      <vt:lpstr>ALGORITHM – TO BE DONE</vt:lpstr>
      <vt:lpstr>ALGORITHM – TO BE DONE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HEART-LUNG SOUND SEPARATION</dc:title>
  <dc:creator>Gladson K</dc:creator>
  <cp:lastModifiedBy>Gladson	Kalanjiadurai</cp:lastModifiedBy>
  <cp:revision>11</cp:revision>
  <dcterms:created xsi:type="dcterms:W3CDTF">2023-10-02T04:35:37Z</dcterms:created>
  <dcterms:modified xsi:type="dcterms:W3CDTF">2026-10-24T16:22:59Z</dcterms:modified>
</cp:coreProperties>
</file>